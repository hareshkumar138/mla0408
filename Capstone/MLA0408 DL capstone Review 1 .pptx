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7" r:id="rId4"/>
    <p:sldId id="278" r:id="rId5"/>
    <p:sldId id="261" r:id="rId6"/>
    <p:sldId id="258" r:id="rId7"/>
    <p:sldId id="267" r:id="rId8"/>
    <p:sldId id="268"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snapToObjects="1">
      <p:cViewPr varScale="1">
        <p:scale>
          <a:sx n="89" d="100"/>
          <a:sy n="89" d="100"/>
        </p:scale>
        <p:origin x="302" y="7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4910" y="1445016"/>
            <a:ext cx="10363200" cy="1470025"/>
          </a:xfrm>
        </p:spPr>
        <p:txBody>
          <a:bodyPr>
            <a:noAutofit/>
          </a:bodyPr>
          <a:lstStyle/>
          <a:p>
            <a:pPr fontAlgn="ctr"/>
            <a:r>
              <a:rPr lang="en-IN" sz="3600" b="1" dirty="0">
                <a:latin typeface="Times New Roman" panose="02020603050405020304" pitchFamily="18" charset="0"/>
                <a:cs typeface="Times New Roman" panose="02020603050405020304" pitchFamily="18" charset="0"/>
              </a:rPr>
              <a:t>Autoencoder-Based Deep Learning Framework for Network Intrusion and Anomaly Detection</a:t>
            </a:r>
          </a:p>
        </p:txBody>
      </p:sp>
      <p:sp>
        <p:nvSpPr>
          <p:cNvPr id="3" name="Subtitle 2"/>
          <p:cNvSpPr>
            <a:spLocks noGrp="1"/>
          </p:cNvSpPr>
          <p:nvPr>
            <p:ph type="subTitle" idx="1"/>
          </p:nvPr>
        </p:nvSpPr>
        <p:spPr>
          <a:xfrm>
            <a:off x="1492469" y="3933360"/>
            <a:ext cx="9013371" cy="2570957"/>
          </a:xfrm>
        </p:spPr>
        <p:txBody>
          <a:bodyPr>
            <a:noAutofit/>
          </a:bodyPr>
          <a:lstStyle/>
          <a:p>
            <a:r>
              <a:rPr sz="2400" b="1" dirty="0">
                <a:solidFill>
                  <a:schemeClr val="accent2"/>
                </a:solidFill>
                <a:latin typeface="Times New Roman" panose="02020603050405020304" pitchFamily="18" charset="0"/>
                <a:cs typeface="Times New Roman" panose="02020603050405020304" pitchFamily="18" charset="0"/>
              </a:rPr>
              <a:t>Presented by: </a:t>
            </a:r>
            <a:endParaRPr lang="en-US" sz="2400" b="1" dirty="0">
              <a:solidFill>
                <a:schemeClr val="accent2"/>
              </a:solidFill>
              <a:latin typeface="Times New Roman" panose="02020603050405020304" pitchFamily="18" charset="0"/>
              <a:cs typeface="Times New Roman" panose="02020603050405020304" pitchFamily="18" charset="0"/>
            </a:endParaRPr>
          </a:p>
          <a:p>
            <a:r>
              <a:rPr lang="en-IN" sz="2400" b="1" dirty="0">
                <a:solidFill>
                  <a:srgbClr val="0070C0"/>
                </a:solidFill>
                <a:latin typeface="Times New Roman" panose="02020603050405020304" pitchFamily="18" charset="0"/>
                <a:cs typeface="Times New Roman" panose="02020603050405020304" pitchFamily="18" charset="0"/>
              </a:rPr>
              <a:t>HARESH KUMAR N L </a:t>
            </a:r>
            <a:r>
              <a:rPr lang="en-IN" sz="2400" b="1" dirty="0">
                <a:solidFill>
                  <a:schemeClr val="accent2"/>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192425009</a:t>
            </a:r>
          </a:p>
          <a:p>
            <a:r>
              <a:rPr lang="en-IN" sz="2400" b="1" dirty="0">
                <a:solidFill>
                  <a:srgbClr val="0070C0"/>
                </a:solidFill>
                <a:latin typeface="Times New Roman" panose="02020603050405020304" pitchFamily="18" charset="0"/>
                <a:cs typeface="Times New Roman" panose="02020603050405020304" pitchFamily="18" charset="0"/>
              </a:rPr>
              <a:t>JANANI V </a:t>
            </a:r>
            <a:r>
              <a:rPr lang="en-IN" sz="2400" b="1" dirty="0">
                <a:solidFill>
                  <a:schemeClr val="accent2"/>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192425053</a:t>
            </a:r>
          </a:p>
          <a:p>
            <a:r>
              <a:rPr lang="en-IN" sz="2400" b="1" dirty="0">
                <a:solidFill>
                  <a:srgbClr val="0070C0"/>
                </a:solidFill>
                <a:latin typeface="Times New Roman" panose="02020603050405020304" pitchFamily="18" charset="0"/>
                <a:cs typeface="Times New Roman" panose="02020603050405020304" pitchFamily="18" charset="0"/>
              </a:rPr>
              <a:t>KUMARAN M</a:t>
            </a:r>
            <a:r>
              <a:rPr lang="en-IN" sz="2400" b="1" dirty="0">
                <a:solidFill>
                  <a:schemeClr val="accent2"/>
                </a:solidFill>
                <a:latin typeface="Times New Roman" panose="02020603050405020304" pitchFamily="18" charset="0"/>
                <a:cs typeface="Times New Roman" panose="02020603050405020304" pitchFamily="18" charset="0"/>
              </a:rPr>
              <a:t> - </a:t>
            </a:r>
            <a:r>
              <a:rPr lang="en-IN" sz="2400" b="1" dirty="0">
                <a:solidFill>
                  <a:srgbClr val="FF0000"/>
                </a:solidFill>
                <a:latin typeface="Times New Roman" panose="02020603050405020304" pitchFamily="18" charset="0"/>
                <a:cs typeface="Times New Roman" panose="02020603050405020304" pitchFamily="18" charset="0"/>
              </a:rPr>
              <a:t>192525022</a:t>
            </a:r>
          </a:p>
          <a:p>
            <a:r>
              <a:rPr lang="en-IN" sz="2400" b="1" dirty="0">
                <a:solidFill>
                  <a:srgbClr val="0070C0"/>
                </a:solidFill>
                <a:latin typeface="Times New Roman" panose="02020603050405020304" pitchFamily="18" charset="0"/>
                <a:cs typeface="Times New Roman" panose="02020603050405020304" pitchFamily="18" charset="0"/>
              </a:rPr>
              <a:t>LOGESH S </a:t>
            </a:r>
            <a:r>
              <a:rPr lang="en-IN" sz="2400" b="1" dirty="0">
                <a:solidFill>
                  <a:schemeClr val="accent2"/>
                </a:solidFill>
                <a:latin typeface="Times New Roman" panose="02020603050405020304" pitchFamily="18" charset="0"/>
                <a:cs typeface="Times New Roman" panose="02020603050405020304" pitchFamily="18" charset="0"/>
              </a:rPr>
              <a:t>– </a:t>
            </a:r>
            <a:r>
              <a:rPr lang="en-IN" sz="2400" b="1" dirty="0">
                <a:solidFill>
                  <a:srgbClr val="FF0000"/>
                </a:solidFill>
                <a:latin typeface="Times New Roman" panose="02020603050405020304" pitchFamily="18" charset="0"/>
                <a:cs typeface="Times New Roman" panose="02020603050405020304" pitchFamily="18" charset="0"/>
              </a:rPr>
              <a:t>192525023</a:t>
            </a:r>
          </a:p>
        </p:txBody>
      </p:sp>
      <p:pic>
        <p:nvPicPr>
          <p:cNvPr id="5" name="Picture 4"/>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4" name="TextBox 3">
            <a:extLst>
              <a:ext uri="{FF2B5EF4-FFF2-40B4-BE49-F238E27FC236}">
                <a16:creationId xmlns:a16="http://schemas.microsoft.com/office/drawing/2014/main" id="{F863E993-DEE3-4481-B822-EA4B1C996A8E}"/>
              </a:ext>
            </a:extLst>
          </p:cNvPr>
          <p:cNvSpPr txBox="1"/>
          <p:nvPr/>
        </p:nvSpPr>
        <p:spPr>
          <a:xfrm>
            <a:off x="0" y="3162591"/>
            <a:ext cx="12192000"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MLA0408 – Deep Learning </a:t>
            </a:r>
            <a:endParaRPr lang="en-IN" sz="2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4000" b="1" dirty="0">
                <a:latin typeface="Times New Roman" panose="02020603050405020304" pitchFamily="18" charset="0"/>
                <a:cs typeface="Times New Roman" panose="02020603050405020304" pitchFamily="18" charset="0"/>
              </a:rPr>
              <a:t>INTRODUCTION</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74754"/>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79078"/>
            <a:ext cx="1520114" cy="1342884"/>
          </a:xfrm>
          <a:prstGeom prst="rect">
            <a:avLst/>
          </a:prstGeom>
          <a:noFill/>
          <a:ln>
            <a:noFill/>
          </a:ln>
        </p:spPr>
      </p:pic>
      <p:sp>
        <p:nvSpPr>
          <p:cNvPr id="7" name="Rectangle 2">
            <a:extLst>
              <a:ext uri="{FF2B5EF4-FFF2-40B4-BE49-F238E27FC236}">
                <a16:creationId xmlns:a16="http://schemas.microsoft.com/office/drawing/2014/main" id="{3F5620E0-EBA5-456E-851F-19C81EF4A016}"/>
              </a:ext>
            </a:extLst>
          </p:cNvPr>
          <p:cNvSpPr>
            <a:spLocks noGrp="1" noChangeArrowheads="1"/>
          </p:cNvSpPr>
          <p:nvPr>
            <p:ph idx="1"/>
          </p:nvPr>
        </p:nvSpPr>
        <p:spPr bwMode="auto">
          <a:xfrm>
            <a:off x="483476" y="1633549"/>
            <a:ext cx="11225048"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AU" sz="2000" b="1" dirty="0">
                <a:solidFill>
                  <a:srgbClr val="C00000"/>
                </a:solidFill>
                <a:latin typeface="Times New Roman" panose="02020603050405020304" pitchFamily="18" charset="0"/>
                <a:cs typeface="Times New Roman" panose="02020603050405020304" pitchFamily="18" charset="0"/>
              </a:rPr>
              <a:t>Overview of the Project</a:t>
            </a:r>
          </a:p>
          <a:p>
            <a:pPr marL="0" indent="0" algn="just">
              <a:buNone/>
            </a:pPr>
            <a:r>
              <a:rPr lang="en-IN" sz="2000" dirty="0">
                <a:latin typeface="Times New Roman" panose="02020603050405020304" pitchFamily="18" charset="0"/>
                <a:cs typeface="Times New Roman" panose="02020603050405020304" pitchFamily="18" charset="0"/>
              </a:rPr>
              <a:t>Computer networks are the backbone of modern communication, supporting services such as banking, healthcare, education, cloud computing, and online businesses. As network usage increases, cyberattacks like malware, phishing, denial-of-service (DoS), and unauthorized access have become more common. This project uses a Deep Learning-based Autoencoder to learn normal network traffic patterns and detect abnormal activities (anomalies), helping to identify potential cyber threats and improve network security.</a:t>
            </a:r>
          </a:p>
          <a:p>
            <a:pPr marL="0" indent="0" algn="just">
              <a:buNone/>
            </a:pPr>
            <a:endParaRPr lang="en-IN" sz="2000" dirty="0">
              <a:latin typeface="Times New Roman" panose="02020603050405020304" pitchFamily="18" charset="0"/>
              <a:cs typeface="Times New Roman" panose="02020603050405020304" pitchFamily="18" charset="0"/>
            </a:endParaRPr>
          </a:p>
          <a:p>
            <a:pPr marL="0" indent="0">
              <a:buNone/>
            </a:pPr>
            <a:r>
              <a:rPr lang="en-AU" sz="2000" b="1" dirty="0">
                <a:solidFill>
                  <a:srgbClr val="C00000"/>
                </a:solidFill>
                <a:latin typeface="Times New Roman" panose="02020603050405020304" pitchFamily="18" charset="0"/>
                <a:cs typeface="Times New Roman" panose="02020603050405020304" pitchFamily="18" charset="0"/>
              </a:rPr>
              <a:t>Purpose of the Project</a:t>
            </a:r>
          </a:p>
          <a:p>
            <a:pPr marL="457200" indent="-457200">
              <a:buFont typeface="+mj-lt"/>
              <a:buAutoNum type="arabicPeriod"/>
            </a:pPr>
            <a:r>
              <a:rPr lang="en-IN" sz="2000" dirty="0"/>
              <a:t>To develop a deep learning-based network intrusion detection system using an Autoencoder. </a:t>
            </a:r>
          </a:p>
          <a:p>
            <a:pPr marL="457200" indent="-457200">
              <a:buFont typeface="+mj-lt"/>
              <a:buAutoNum type="arabicPeriod"/>
            </a:pPr>
            <a:r>
              <a:rPr lang="en-IN" sz="2000" dirty="0"/>
              <a:t>To learn normal network traffic patterns and identify abnormal </a:t>
            </a:r>
            <a:r>
              <a:rPr lang="en-IN" sz="2000" dirty="0" err="1"/>
              <a:t>behavior</a:t>
            </a:r>
            <a:r>
              <a:rPr lang="en-IN" sz="2000" dirty="0"/>
              <a:t>. </a:t>
            </a:r>
          </a:p>
          <a:p>
            <a:pPr marL="457200" indent="-457200">
              <a:buFont typeface="+mj-lt"/>
              <a:buAutoNum type="arabicPeriod"/>
            </a:pPr>
            <a:r>
              <a:rPr lang="en-IN" sz="2000" dirty="0"/>
              <a:t>To detect both known and unknown cyberattacks through anomaly detection. </a:t>
            </a:r>
          </a:p>
          <a:p>
            <a:pPr marL="457200" indent="-457200">
              <a:buFont typeface="+mj-lt"/>
              <a:buAutoNum type="arabicPeriod"/>
            </a:pPr>
            <a:r>
              <a:rPr lang="en-IN" sz="2000" dirty="0"/>
              <a:t>To improve the accuracy and reliability of network intrusion detection.</a:t>
            </a:r>
            <a:endParaRPr lang="en-AU"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46BA0-17E2-92E2-830C-9563FBF91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32B3E-CAD0-2436-F7F0-BC474264C62B}"/>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OBJECTIVE</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154B3DE-2265-ED55-AC51-231A8FDF178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DC3C2B24-DEF2-6E42-FF8B-3CFAED0172A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
        <p:nvSpPr>
          <p:cNvPr id="7" name="Rectangle 2">
            <a:extLst>
              <a:ext uri="{FF2B5EF4-FFF2-40B4-BE49-F238E27FC236}">
                <a16:creationId xmlns:a16="http://schemas.microsoft.com/office/drawing/2014/main" id="{9573C98B-9EB3-4E1F-D469-038FA60CA74B}"/>
              </a:ext>
            </a:extLst>
          </p:cNvPr>
          <p:cNvSpPr>
            <a:spLocks noGrp="1" noChangeArrowheads="1"/>
          </p:cNvSpPr>
          <p:nvPr>
            <p:ph idx="1"/>
          </p:nvPr>
        </p:nvSpPr>
        <p:spPr bwMode="auto">
          <a:xfrm>
            <a:off x="357352" y="1500650"/>
            <a:ext cx="11225048"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AU" sz="2000" b="1" dirty="0">
                <a:solidFill>
                  <a:srgbClr val="C00000"/>
                </a:solidFill>
                <a:latin typeface="Times New Roman" panose="02020603050405020304" pitchFamily="18" charset="0"/>
                <a:cs typeface="Times New Roman" panose="02020603050405020304" pitchFamily="18" charset="0"/>
              </a:rPr>
              <a:t>Goals:</a:t>
            </a:r>
            <a:endParaRPr lang="en-AU" sz="2000" dirty="0">
              <a:solidFill>
                <a:srgbClr val="C0000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Develop a deep learning-based Network Intrusion Detection System (NIDS) using an Autoencoder.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Learn and model normal network traffic patterns. </a:t>
            </a:r>
          </a:p>
          <a:p>
            <a:pPr marL="457200" indent="-457200">
              <a:buFont typeface="+mj-lt"/>
              <a:buAutoNum type="arabicPeriod"/>
            </a:pPr>
            <a:r>
              <a:rPr lang="en-IN" sz="2000" dirty="0">
                <a:latin typeface="Times New Roman" panose="02020603050405020304" pitchFamily="18" charset="0"/>
                <a:cs typeface="Times New Roman" panose="02020603050405020304" pitchFamily="18" charset="0"/>
              </a:rPr>
              <a:t>Detect abnormal or malicious network activities through anomaly detection.</a:t>
            </a:r>
          </a:p>
          <a:p>
            <a:pPr marL="0" indent="0">
              <a:buNone/>
            </a:pPr>
            <a:r>
              <a:rPr lang="en-AU" sz="2000" b="1" dirty="0">
                <a:solidFill>
                  <a:srgbClr val="C00000"/>
                </a:solidFill>
                <a:latin typeface="Times New Roman" panose="02020603050405020304" pitchFamily="18" charset="0"/>
                <a:cs typeface="Times New Roman" panose="02020603050405020304" pitchFamily="18" charset="0"/>
              </a:rPr>
              <a:t>Problem Statement:</a:t>
            </a:r>
          </a:p>
          <a:p>
            <a:pPr algn="just"/>
            <a:r>
              <a:rPr lang="en-IN" sz="2000" dirty="0">
                <a:latin typeface="Times New Roman" panose="02020603050405020304" pitchFamily="18" charset="0"/>
                <a:cs typeface="Times New Roman" panose="02020603050405020304" pitchFamily="18" charset="0"/>
              </a:rPr>
              <a:t>With the rapid growth of computer networks and internet services, cyberattacks such as malware, phishing, denial-of-service (DoS), and unauthorized access have become increasingly common. Traditional intrusion detection systems mainly rely on predefined attack signatures, making them ineffective against new and evolving threats. Therefore, an intelligent system is required to automatically learn normal network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and accurately detect suspicious activities using deep learning.</a:t>
            </a:r>
          </a:p>
          <a:p>
            <a:pPr marL="0" indent="0">
              <a:buNone/>
            </a:pPr>
            <a:r>
              <a:rPr lang="en-AU" sz="2000" b="1" dirty="0">
                <a:solidFill>
                  <a:srgbClr val="C00000"/>
                </a:solidFill>
                <a:latin typeface="Times New Roman" panose="02020603050405020304" pitchFamily="18" charset="0"/>
                <a:cs typeface="Times New Roman" panose="02020603050405020304" pitchFamily="18" charset="0"/>
              </a:rPr>
              <a:t>Expected Outcomes:</a:t>
            </a:r>
            <a:endParaRPr lang="en-AU" sz="2000" dirty="0">
              <a:solidFill>
                <a:srgbClr val="C00000"/>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000" dirty="0"/>
              <a:t> A trained Autoencoder model capable of learning normal network traffic patterns. </a:t>
            </a:r>
          </a:p>
          <a:p>
            <a:pPr marL="457200" indent="-457200">
              <a:buFont typeface="+mj-lt"/>
              <a:buAutoNum type="arabicPeriod"/>
            </a:pPr>
            <a:r>
              <a:rPr lang="en-IN" sz="2000" dirty="0"/>
              <a:t>Accurate detection of abnormal or malicious network activities. </a:t>
            </a:r>
          </a:p>
          <a:p>
            <a:pPr marL="457200" indent="-457200">
              <a:buFont typeface="+mj-lt"/>
              <a:buAutoNum type="arabicPeriod"/>
            </a:pPr>
            <a:r>
              <a:rPr lang="en-IN" sz="2000" dirty="0"/>
              <a:t>Detection of both known and previously unseen cyberattacks through anomaly detection. </a:t>
            </a:r>
          </a:p>
          <a:p>
            <a:pPr marL="457200" indent="-457200">
              <a:buFont typeface="+mj-lt"/>
              <a:buAutoNum type="arabicPeriod"/>
            </a:pPr>
            <a:r>
              <a:rPr lang="en-IN" sz="2000" dirty="0"/>
              <a:t>Improved intrusion detection performance with reduced false positives.</a:t>
            </a:r>
            <a:endParaRPr lang="en-A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932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660F1-B0F1-AFB8-018B-876C41730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36384-F87D-714B-6804-2018C613B94C}"/>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LITERATURE REVIEW</a:t>
            </a:r>
            <a:endParaRPr lang="en-AU" sz="4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3CD7AB7-9BD5-111D-DCA0-7075B6FFDA25}"/>
              </a:ext>
            </a:extLst>
          </p:cNvPr>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a:extLst>
              <a:ext uri="{FF2B5EF4-FFF2-40B4-BE49-F238E27FC236}">
                <a16:creationId xmlns:a16="http://schemas.microsoft.com/office/drawing/2014/main" id="{28E01732-844D-6344-3FEB-0C7F0A499D9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9" name="Picture 8">
            <a:extLst>
              <a:ext uri="{FF2B5EF4-FFF2-40B4-BE49-F238E27FC236}">
                <a16:creationId xmlns:a16="http://schemas.microsoft.com/office/drawing/2014/main" id="{03DCB749-7B17-1041-2F9C-10D33F6D377F}"/>
              </a:ext>
            </a:extLst>
          </p:cNvPr>
          <p:cNvPicPr>
            <a:picLocks noChangeAspect="1"/>
          </p:cNvPicPr>
          <p:nvPr/>
        </p:nvPicPr>
        <p:blipFill>
          <a:blip r:embed="rId4"/>
          <a:stretch>
            <a:fillRect/>
          </a:stretch>
        </p:blipFill>
        <p:spPr>
          <a:xfrm>
            <a:off x="878840" y="1574032"/>
            <a:ext cx="10434320" cy="5009330"/>
          </a:xfrm>
          <a:prstGeom prst="rect">
            <a:avLst/>
          </a:prstGeom>
        </p:spPr>
      </p:pic>
    </p:spTree>
    <p:extLst>
      <p:ext uri="{BB962C8B-B14F-4D97-AF65-F5344CB8AC3E}">
        <p14:creationId xmlns:p14="http://schemas.microsoft.com/office/powerpoint/2010/main" val="718047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ARCHITECTURE DIAGRAM</a:t>
            </a: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pic>
        <p:nvPicPr>
          <p:cNvPr id="12" name="Picture 11">
            <a:extLst>
              <a:ext uri="{FF2B5EF4-FFF2-40B4-BE49-F238E27FC236}">
                <a16:creationId xmlns:a16="http://schemas.microsoft.com/office/drawing/2014/main" id="{76573219-3429-8860-D019-224A8197C934}"/>
              </a:ext>
            </a:extLst>
          </p:cNvPr>
          <p:cNvPicPr>
            <a:picLocks noChangeAspect="1"/>
          </p:cNvPicPr>
          <p:nvPr/>
        </p:nvPicPr>
        <p:blipFill>
          <a:blip r:embed="rId4"/>
          <a:stretch>
            <a:fillRect/>
          </a:stretch>
        </p:blipFill>
        <p:spPr>
          <a:xfrm>
            <a:off x="1394604" y="1617522"/>
            <a:ext cx="9402792" cy="47013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LIST OF MODULES</a:t>
            </a:r>
          </a:p>
        </p:txBody>
      </p:sp>
      <p:sp>
        <p:nvSpPr>
          <p:cNvPr id="3" name="Content Placeholder 2"/>
          <p:cNvSpPr>
            <a:spLocks noGrp="1"/>
          </p:cNvSpPr>
          <p:nvPr>
            <p:ph idx="1"/>
          </p:nvPr>
        </p:nvSpPr>
        <p:spPr>
          <a:xfrm>
            <a:off x="707365" y="1741714"/>
            <a:ext cx="10368951" cy="4702218"/>
          </a:xfrm>
        </p:spPr>
        <p:txBody>
          <a:bodyPr>
            <a:noAutofit/>
          </a:bodyPr>
          <a:lstStyle/>
          <a:p>
            <a:pPr marL="0" indent="269875">
              <a:lnSpc>
                <a:spcPct val="120000"/>
              </a:lnSpc>
              <a:spcBef>
                <a:spcPts val="600"/>
              </a:spcBef>
              <a:buNone/>
            </a:pPr>
            <a:endParaRPr lang="en-GB"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GB" b="1" dirty="0">
                <a:solidFill>
                  <a:schemeClr val="accent6">
                    <a:lumMod val="75000"/>
                  </a:schemeClr>
                </a:solidFill>
                <a:latin typeface="Times New Roman" panose="02020603050405020304" pitchFamily="18" charset="0"/>
                <a:cs typeface="Times New Roman" panose="02020603050405020304" pitchFamily="18" charset="0"/>
              </a:rPr>
              <a:t>Module 1:</a:t>
            </a:r>
            <a:r>
              <a:rPr lang="en-GB" b="1" dirty="0">
                <a:latin typeface="Times New Roman" panose="02020603050405020304" pitchFamily="18" charset="0"/>
                <a:cs typeface="Times New Roman" panose="02020603050405020304" pitchFamily="18" charset="0"/>
              </a:rPr>
              <a:t> </a:t>
            </a:r>
            <a:r>
              <a:rPr lang="en-IN" dirty="0"/>
              <a:t>Data Collection and Preprocessing</a:t>
            </a:r>
          </a:p>
          <a:p>
            <a:pPr marL="0" indent="269875">
              <a:lnSpc>
                <a:spcPct val="120000"/>
              </a:lnSpc>
              <a:spcBef>
                <a:spcPts val="600"/>
              </a:spcBef>
              <a:buNone/>
            </a:pPr>
            <a:r>
              <a:rPr lang="en-GB" b="1" dirty="0">
                <a:solidFill>
                  <a:schemeClr val="accent5">
                    <a:lumMod val="75000"/>
                  </a:schemeClr>
                </a:solidFill>
                <a:latin typeface="Times New Roman" panose="02020603050405020304" pitchFamily="18" charset="0"/>
                <a:cs typeface="Times New Roman" panose="02020603050405020304" pitchFamily="18" charset="0"/>
              </a:rPr>
              <a:t>Module 2: </a:t>
            </a:r>
            <a:r>
              <a:rPr lang="en-IN" dirty="0"/>
              <a:t>Autoencoder Model Development</a:t>
            </a:r>
            <a:endParaRPr lang="en-GB" dirty="0">
              <a:latin typeface="Times New Roman" panose="02020603050405020304" pitchFamily="18" charset="0"/>
              <a:cs typeface="Times New Roman" panose="02020603050405020304" pitchFamily="18" charset="0"/>
            </a:endParaRPr>
          </a:p>
          <a:p>
            <a:pPr marL="0" indent="269875">
              <a:lnSpc>
                <a:spcPct val="120000"/>
              </a:lnSpc>
              <a:spcBef>
                <a:spcPts val="600"/>
              </a:spcBef>
              <a:buNone/>
            </a:pPr>
            <a:r>
              <a:rPr lang="en-GB" b="1" dirty="0">
                <a:solidFill>
                  <a:schemeClr val="accent4">
                    <a:lumMod val="75000"/>
                  </a:schemeClr>
                </a:solidFill>
                <a:latin typeface="Times New Roman" panose="02020603050405020304" pitchFamily="18" charset="0"/>
                <a:cs typeface="Times New Roman" panose="02020603050405020304" pitchFamily="18" charset="0"/>
              </a:rPr>
              <a:t>Module 3:</a:t>
            </a:r>
            <a:r>
              <a:rPr lang="en-GB" dirty="0">
                <a:latin typeface="Times New Roman" panose="02020603050405020304" pitchFamily="18" charset="0"/>
                <a:cs typeface="Times New Roman" panose="02020603050405020304" pitchFamily="18" charset="0"/>
              </a:rPr>
              <a:t> </a:t>
            </a:r>
            <a:r>
              <a:rPr lang="en-IN" dirty="0"/>
              <a:t>Anomaly Detection and Performance Evaluation</a:t>
            </a:r>
          </a:p>
          <a:p>
            <a:pPr marL="0" indent="269875">
              <a:lnSpc>
                <a:spcPct val="120000"/>
              </a:lnSpc>
              <a:spcBef>
                <a:spcPts val="600"/>
              </a:spcBef>
              <a:buNone/>
            </a:pPr>
            <a:r>
              <a:rPr lang="en-GB" b="1" dirty="0">
                <a:solidFill>
                  <a:srgbClr val="00B050"/>
                </a:solidFill>
                <a:latin typeface="Times New Roman" panose="02020603050405020304" pitchFamily="18" charset="0"/>
                <a:cs typeface="Times New Roman" panose="02020603050405020304" pitchFamily="18" charset="0"/>
              </a:rPr>
              <a:t>Module 4:</a:t>
            </a:r>
            <a:r>
              <a:rPr lang="en-GB" b="1" dirty="0">
                <a:latin typeface="Times New Roman" panose="02020603050405020304" pitchFamily="18" charset="0"/>
                <a:cs typeface="Times New Roman" panose="02020603050405020304" pitchFamily="18" charset="0"/>
              </a:rPr>
              <a:t> </a:t>
            </a:r>
            <a:r>
              <a:rPr lang="en-IN" dirty="0"/>
              <a:t>System Deployment and Visualization</a:t>
            </a:r>
            <a:endParaRPr lang="en-GB"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20000"/>
              </a:lnSpc>
            </a:pPr>
            <a:r>
              <a:rPr lang="en-AU" sz="4000"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357352" y="1730830"/>
            <a:ext cx="11335657" cy="4525963"/>
          </a:xfrm>
        </p:spPr>
        <p:txBody>
          <a:bodyPr>
            <a:noAutofit/>
          </a:bodyPr>
          <a:lstStyle/>
          <a:p>
            <a:pPr algn="just">
              <a:buFont typeface="+mj-lt"/>
              <a:buAutoNum type="arabicPeriod"/>
            </a:pPr>
            <a:r>
              <a:rPr lang="en-IN" sz="1800" dirty="0">
                <a:latin typeface="Times New Roman" panose="02020603050405020304" pitchFamily="18" charset="0"/>
                <a:cs typeface="Times New Roman" panose="02020603050405020304" pitchFamily="18" charset="0"/>
              </a:rPr>
              <a:t>G. E. Hinton and R. R. </a:t>
            </a:r>
            <a:r>
              <a:rPr lang="en-IN" sz="1800" dirty="0" err="1">
                <a:latin typeface="Times New Roman" panose="02020603050405020304" pitchFamily="18" charset="0"/>
                <a:cs typeface="Times New Roman" panose="02020603050405020304" pitchFamily="18" charset="0"/>
              </a:rPr>
              <a:t>Salakhutdinov</a:t>
            </a:r>
            <a:r>
              <a:rPr lang="en-IN" sz="1800" dirty="0">
                <a:latin typeface="Times New Roman" panose="02020603050405020304" pitchFamily="18" charset="0"/>
                <a:cs typeface="Times New Roman" panose="02020603050405020304" pitchFamily="18" charset="0"/>
              </a:rPr>
              <a:t>, “Reducing the Dimensionality of Data with Neural Networks,” </a:t>
            </a:r>
            <a:r>
              <a:rPr lang="en-IN" sz="1800" i="1" dirty="0">
                <a:latin typeface="Times New Roman" panose="02020603050405020304" pitchFamily="18" charset="0"/>
                <a:cs typeface="Times New Roman" panose="02020603050405020304" pitchFamily="18" charset="0"/>
              </a:rPr>
              <a:t>Science</a:t>
            </a:r>
            <a:r>
              <a:rPr lang="en-IN" sz="1800" dirty="0">
                <a:latin typeface="Times New Roman" panose="02020603050405020304" pitchFamily="18" charset="0"/>
                <a:cs typeface="Times New Roman" panose="02020603050405020304" pitchFamily="18" charset="0"/>
              </a:rPr>
              <a:t>, vol. 313, no. 5786, pp. 504–507, 2006. </a:t>
            </a:r>
          </a:p>
          <a:p>
            <a:pPr algn="just">
              <a:buFont typeface="+mj-lt"/>
              <a:buAutoNum type="arabicPeriod"/>
            </a:pPr>
            <a:r>
              <a:rPr lang="en-IN" sz="1800" dirty="0">
                <a:latin typeface="Times New Roman" panose="02020603050405020304" pitchFamily="18" charset="0"/>
                <a:cs typeface="Times New Roman" panose="02020603050405020304" pitchFamily="18" charset="0"/>
              </a:rPr>
              <a:t>Y. LeCun, Y. Bengio, and G. Hinton, “Deep Learning,” </a:t>
            </a:r>
            <a:r>
              <a:rPr lang="en-IN" sz="1800" i="1" dirty="0">
                <a:latin typeface="Times New Roman" panose="02020603050405020304" pitchFamily="18" charset="0"/>
                <a:cs typeface="Times New Roman" panose="02020603050405020304" pitchFamily="18" charset="0"/>
              </a:rPr>
              <a:t>Nature</a:t>
            </a:r>
            <a:r>
              <a:rPr lang="en-IN" sz="1800" dirty="0">
                <a:latin typeface="Times New Roman" panose="02020603050405020304" pitchFamily="18" charset="0"/>
                <a:cs typeface="Times New Roman" panose="02020603050405020304" pitchFamily="18" charset="0"/>
              </a:rPr>
              <a:t>, vol. 521, no. 7553, pp. 436–444, 2015. </a:t>
            </a:r>
          </a:p>
          <a:p>
            <a:pPr algn="just">
              <a:buFont typeface="+mj-lt"/>
              <a:buAutoNum type="arabicPeriod"/>
            </a:pPr>
            <a:r>
              <a:rPr lang="en-IN" sz="1800" dirty="0">
                <a:latin typeface="Times New Roman" panose="02020603050405020304" pitchFamily="18" charset="0"/>
                <a:cs typeface="Times New Roman" panose="02020603050405020304" pitchFamily="18" charset="0"/>
              </a:rPr>
              <a:t>M. </a:t>
            </a:r>
            <a:r>
              <a:rPr lang="en-IN" sz="1800" dirty="0" err="1">
                <a:latin typeface="Times New Roman" panose="02020603050405020304" pitchFamily="18" charset="0"/>
                <a:cs typeface="Times New Roman" panose="02020603050405020304" pitchFamily="18" charset="0"/>
              </a:rPr>
              <a:t>Tavallaee</a:t>
            </a:r>
            <a:r>
              <a:rPr lang="en-IN" sz="1800" dirty="0">
                <a:latin typeface="Times New Roman" panose="02020603050405020304" pitchFamily="18" charset="0"/>
                <a:cs typeface="Times New Roman" panose="02020603050405020304" pitchFamily="18" charset="0"/>
              </a:rPr>
              <a:t>, E. Bagheri, W. Lu, and A. A. Ghorbani, “A Detailed Analysis of the KDD CUP 99 Data Set,” </a:t>
            </a:r>
            <a:r>
              <a:rPr lang="en-IN" sz="1800" i="1" dirty="0">
                <a:latin typeface="Times New Roman" panose="02020603050405020304" pitchFamily="18" charset="0"/>
                <a:cs typeface="Times New Roman" panose="02020603050405020304" pitchFamily="18" charset="0"/>
              </a:rPr>
              <a:t>Proceedings of the IEEE Symposium on Computational Intelligence for Security and </a:t>
            </a:r>
            <a:r>
              <a:rPr lang="en-IN" sz="1800" i="1" dirty="0" err="1">
                <a:latin typeface="Times New Roman" panose="02020603050405020304" pitchFamily="18" charset="0"/>
                <a:cs typeface="Times New Roman" panose="02020603050405020304" pitchFamily="18" charset="0"/>
              </a:rPr>
              <a:t>Defense</a:t>
            </a:r>
            <a:r>
              <a:rPr lang="en-IN" sz="1800" i="1" dirty="0">
                <a:latin typeface="Times New Roman" panose="02020603050405020304" pitchFamily="18" charset="0"/>
                <a:cs typeface="Times New Roman" panose="02020603050405020304" pitchFamily="18" charset="0"/>
              </a:rPr>
              <a:t> Applications (CISDA)</a:t>
            </a:r>
            <a:r>
              <a:rPr lang="en-IN" sz="1800" dirty="0">
                <a:latin typeface="Times New Roman" panose="02020603050405020304" pitchFamily="18" charset="0"/>
                <a:cs typeface="Times New Roman" panose="02020603050405020304" pitchFamily="18" charset="0"/>
              </a:rPr>
              <a:t>, 2009. </a:t>
            </a:r>
          </a:p>
          <a:p>
            <a:pPr algn="just">
              <a:buFont typeface="+mj-lt"/>
              <a:buAutoNum type="arabicPeriod"/>
            </a:pPr>
            <a:r>
              <a:rPr lang="en-IN" sz="1800" dirty="0">
                <a:latin typeface="Times New Roman" panose="02020603050405020304" pitchFamily="18" charset="0"/>
                <a:cs typeface="Times New Roman" panose="02020603050405020304" pitchFamily="18" charset="0"/>
              </a:rPr>
              <a:t>I. </a:t>
            </a:r>
            <a:r>
              <a:rPr lang="en-IN" sz="1800" dirty="0" err="1">
                <a:latin typeface="Times New Roman" panose="02020603050405020304" pitchFamily="18" charset="0"/>
                <a:cs typeface="Times New Roman" panose="02020603050405020304" pitchFamily="18" charset="0"/>
              </a:rPr>
              <a:t>Sharafaldin</a:t>
            </a:r>
            <a:r>
              <a:rPr lang="en-IN" sz="1800" dirty="0">
                <a:latin typeface="Times New Roman" panose="02020603050405020304" pitchFamily="18" charset="0"/>
                <a:cs typeface="Times New Roman" panose="02020603050405020304" pitchFamily="18" charset="0"/>
              </a:rPr>
              <a:t>, A. H. Lashkari, and A. A. Ghorbani, “Toward Generating a New Intrusion Detection Dataset and Intrusion Traffic Characterization,” </a:t>
            </a:r>
            <a:r>
              <a:rPr lang="en-IN" sz="1800" i="1" dirty="0">
                <a:latin typeface="Times New Roman" panose="02020603050405020304" pitchFamily="18" charset="0"/>
                <a:cs typeface="Times New Roman" panose="02020603050405020304" pitchFamily="18" charset="0"/>
              </a:rPr>
              <a:t>Proceedings of ICISSP</a:t>
            </a:r>
            <a:r>
              <a:rPr lang="en-IN" sz="1800" dirty="0">
                <a:latin typeface="Times New Roman" panose="02020603050405020304" pitchFamily="18" charset="0"/>
                <a:cs typeface="Times New Roman" panose="02020603050405020304" pitchFamily="18" charset="0"/>
              </a:rPr>
              <a:t>, pp. 108–116, 2018. </a:t>
            </a:r>
          </a:p>
          <a:p>
            <a:pPr algn="just">
              <a:buFont typeface="+mj-lt"/>
              <a:buAutoNum type="arabicPeriod"/>
            </a:pPr>
            <a:r>
              <a:rPr lang="en-IN" sz="1800" dirty="0">
                <a:latin typeface="Times New Roman" panose="02020603050405020304" pitchFamily="18" charset="0"/>
                <a:cs typeface="Times New Roman" panose="02020603050405020304" pitchFamily="18" charset="0"/>
              </a:rPr>
              <a:t>A. H. Lashkari, G. D. Gil, M. S. I. Mamun, and A. A. Ghorbani, “Characterization of Tor Traffic Using Time-Based Features,” </a:t>
            </a:r>
            <a:r>
              <a:rPr lang="en-IN" sz="1800" i="1" dirty="0">
                <a:latin typeface="Times New Roman" panose="02020603050405020304" pitchFamily="18" charset="0"/>
                <a:cs typeface="Times New Roman" panose="02020603050405020304" pitchFamily="18" charset="0"/>
              </a:rPr>
              <a:t>Proceedings of ICISSP</a:t>
            </a:r>
            <a:r>
              <a:rPr lang="en-IN" sz="1800" dirty="0">
                <a:latin typeface="Times New Roman" panose="02020603050405020304" pitchFamily="18" charset="0"/>
                <a:cs typeface="Times New Roman" panose="02020603050405020304" pitchFamily="18" charset="0"/>
              </a:rPr>
              <a:t>, 2017. </a:t>
            </a:r>
          </a:p>
          <a:p>
            <a:pPr algn="just">
              <a:buFont typeface="+mj-lt"/>
              <a:buAutoNum type="arabicPeriod"/>
            </a:pPr>
            <a:r>
              <a:rPr lang="en-IN" sz="1800" dirty="0">
                <a:latin typeface="Times New Roman" panose="02020603050405020304" pitchFamily="18" charset="0"/>
                <a:cs typeface="Times New Roman" panose="02020603050405020304" pitchFamily="18" charset="0"/>
              </a:rPr>
              <a:t>J. An and S. Cho, “Variational Autoencoder Based Anomaly Detection Using Reconstruction Probability,” </a:t>
            </a:r>
            <a:r>
              <a:rPr lang="en-IN" sz="1800" i="1" dirty="0">
                <a:latin typeface="Times New Roman" panose="02020603050405020304" pitchFamily="18" charset="0"/>
                <a:cs typeface="Times New Roman" panose="02020603050405020304" pitchFamily="18" charset="0"/>
              </a:rPr>
              <a:t>Special Lecture on IE</a:t>
            </a:r>
            <a:r>
              <a:rPr lang="en-IN" sz="1800" dirty="0">
                <a:latin typeface="Times New Roman" panose="02020603050405020304" pitchFamily="18" charset="0"/>
                <a:cs typeface="Times New Roman" panose="02020603050405020304" pitchFamily="18" charset="0"/>
              </a:rPr>
              <a:t>, vol. 2, no. 1, 2015. </a:t>
            </a:r>
          </a:p>
          <a:p>
            <a:pPr algn="just">
              <a:buFont typeface="+mj-lt"/>
              <a:buAutoNum type="arabicPeriod"/>
            </a:pPr>
            <a:r>
              <a:rPr lang="en-IN" sz="1800" dirty="0">
                <a:latin typeface="Times New Roman" panose="02020603050405020304" pitchFamily="18" charset="0"/>
                <a:cs typeface="Times New Roman" panose="02020603050405020304" pitchFamily="18" charset="0"/>
              </a:rPr>
              <a:t>T. N. Kipf and M. Welling, “Semi-Supervised Classification with Graph Convolutional Networks,” </a:t>
            </a:r>
            <a:r>
              <a:rPr lang="en-IN" sz="1800" i="1" dirty="0" err="1">
                <a:latin typeface="Times New Roman" panose="02020603050405020304" pitchFamily="18" charset="0"/>
                <a:cs typeface="Times New Roman" panose="02020603050405020304" pitchFamily="18" charset="0"/>
              </a:rPr>
              <a:t>arXiv</a:t>
            </a:r>
            <a:r>
              <a:rPr lang="en-IN" sz="1800" i="1" dirty="0">
                <a:latin typeface="Times New Roman" panose="02020603050405020304" pitchFamily="18" charset="0"/>
                <a:cs typeface="Times New Roman" panose="02020603050405020304" pitchFamily="18" charset="0"/>
              </a:rPr>
              <a:t> preprint arXiv:1609.02907</a:t>
            </a:r>
            <a:r>
              <a:rPr lang="en-IN" sz="1800" dirty="0">
                <a:latin typeface="Times New Roman" panose="02020603050405020304" pitchFamily="18" charset="0"/>
                <a:cs typeface="Times New Roman" panose="02020603050405020304" pitchFamily="18" charset="0"/>
              </a:rPr>
              <a:t>, 2017.</a:t>
            </a:r>
            <a:endParaRPr lang="en-AU" sz="1800" dirty="0">
              <a:latin typeface="Times New Roman" panose="02020603050405020304" pitchFamily="18" charset="0"/>
              <a:cs typeface="Times New Roman" panose="02020603050405020304" pitchFamily="18" charset="0"/>
            </a:endParaRPr>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a:xfrm>
            <a:off x="357352" y="191626"/>
            <a:ext cx="1135117" cy="1342884"/>
          </a:xfrm>
          <a:prstGeom prst="rect">
            <a:avLst/>
          </a:prstGeom>
          <a:noFill/>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514231" y="191626"/>
            <a:ext cx="1520114" cy="13428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23949"/>
            <a:ext cx="10972800" cy="1143000"/>
          </a:xfrm>
        </p:spPr>
        <p:txBody>
          <a:bodyPr>
            <a:normAutofit/>
          </a:bodyPr>
          <a:lstStyle/>
          <a:p>
            <a:r>
              <a:rPr sz="6600" dirty="0">
                <a:latin typeface="Arial Rounded MT Bold" panose="020F0704030504030204" pitchFamily="3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375</TotalTime>
  <Words>627</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Rounded MT Bold</vt:lpstr>
      <vt:lpstr>Calibri</vt:lpstr>
      <vt:lpstr>Times New Roman</vt:lpstr>
      <vt:lpstr>Office Theme</vt:lpstr>
      <vt:lpstr>Autoencoder-Based Deep Learning Framework for Network Intrusion and Anomaly Detection</vt:lpstr>
      <vt:lpstr>INTRODUCTION</vt:lpstr>
      <vt:lpstr>OBJECTIVE</vt:lpstr>
      <vt:lpstr>LITERATURE REVIEW</vt:lpstr>
      <vt:lpstr>ARCHITECTURE DIAGRAM</vt:lpstr>
      <vt:lpstr>LIST OF MODULES</vt:lpstr>
      <vt:lpstr>REFERENCES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subject/>
  <dc:creator>sankar</dc:creator>
  <cp:keywords/>
  <dc:description>generated using python-pptx</dc:description>
  <cp:lastModifiedBy>Haresh kumar</cp:lastModifiedBy>
  <cp:revision>44</cp:revision>
  <dcterms:created xsi:type="dcterms:W3CDTF">2013-01-27T09:14:16Z</dcterms:created>
  <dcterms:modified xsi:type="dcterms:W3CDTF">2026-07-25T03:30:38Z</dcterms:modified>
  <cp:category/>
</cp:coreProperties>
</file>