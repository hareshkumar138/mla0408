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2000"/>
  <p:notesSz cx="6858000" cy="9144000"/>
  <p:embeddedFontLst>
    <p:embeddedFont>
      <p:font typeface="Inter SemiBold"/>
      <p:regular r:id="rId17"/>
      <p:bold r:id="rId18"/>
      <p:italic r:id="rId19"/>
      <p:boldItalic r:id="rId20"/>
    </p:embeddedFont>
    <p:embeddedFont>
      <p:font typeface="Inter"/>
      <p:regular r:id="rId21"/>
      <p:bold r:id="rId22"/>
      <p:italic r:id="rId23"/>
      <p:boldItalic r:id="rId24"/>
    </p:embeddedFont>
    <p:embeddedFont>
      <p:font typeface="Lora"/>
      <p:regular r:id="rId25"/>
      <p:bold r:id="rId26"/>
      <p:italic r:id="rId27"/>
      <p:boldItalic r:id="rId28"/>
    </p:embeddedFont>
    <p:embeddedFont>
      <p:font typeface="Inter Medium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6984029-CF1A-44F0-92FA-8F0BCE250DBE}">
  <a:tblStyle styleId="{96984029-CF1A-44F0-92FA-8F0BCE250DB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boldItalic.fntdata"/><Relationship Id="rId22" Type="http://schemas.openxmlformats.org/officeDocument/2006/relationships/font" Target="fonts/Inter-bold.fntdata"/><Relationship Id="rId21" Type="http://schemas.openxmlformats.org/officeDocument/2006/relationships/font" Target="fonts/Inter-regular.fntdata"/><Relationship Id="rId24" Type="http://schemas.openxmlformats.org/officeDocument/2006/relationships/font" Target="fonts/Inter-boldItalic.fntdata"/><Relationship Id="rId23" Type="http://schemas.openxmlformats.org/officeDocument/2006/relationships/font" Target="fonts/Inter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ora-bold.fntdata"/><Relationship Id="rId25" Type="http://schemas.openxmlformats.org/officeDocument/2006/relationships/font" Target="fonts/Lora-regular.fntdata"/><Relationship Id="rId28" Type="http://schemas.openxmlformats.org/officeDocument/2006/relationships/font" Target="fonts/Lora-boldItalic.fntdata"/><Relationship Id="rId27" Type="http://schemas.openxmlformats.org/officeDocument/2006/relationships/font" Target="fonts/Lora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Medium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Medium-italic.fntdata"/><Relationship Id="rId30" Type="http://schemas.openxmlformats.org/officeDocument/2006/relationships/font" Target="fonts/InterMedium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InterMedium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InterSemiBold-regular.fntdata"/><Relationship Id="rId16" Type="http://schemas.openxmlformats.org/officeDocument/2006/relationships/slide" Target="slides/slide10.xml"/><Relationship Id="rId19" Type="http://schemas.openxmlformats.org/officeDocument/2006/relationships/font" Target="fonts/InterSemiBold-italic.fntdata"/><Relationship Id="rId18" Type="http://schemas.openxmlformats.org/officeDocument/2006/relationships/font" Target="fonts/Inter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.png"/><Relationship Id="rId10" Type="http://schemas.openxmlformats.org/officeDocument/2006/relationships/image" Target="../media/image35.png"/><Relationship Id="rId13" Type="http://schemas.openxmlformats.org/officeDocument/2006/relationships/image" Target="../media/image4.png"/><Relationship Id="rId1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10.png"/><Relationship Id="rId15" Type="http://schemas.openxmlformats.org/officeDocument/2006/relationships/image" Target="../media/image3.png"/><Relationship Id="rId1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25.png"/><Relationship Id="rId7" Type="http://schemas.openxmlformats.org/officeDocument/2006/relationships/image" Target="../media/image15.png"/><Relationship Id="rId8" Type="http://schemas.openxmlformats.org/officeDocument/2006/relationships/image" Target="../media/image28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7.png"/><Relationship Id="rId10" Type="http://schemas.openxmlformats.org/officeDocument/2006/relationships/image" Target="../media/image21.png"/><Relationship Id="rId13" Type="http://schemas.openxmlformats.org/officeDocument/2006/relationships/image" Target="../media/image16.png"/><Relationship Id="rId1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Relationship Id="rId4" Type="http://schemas.openxmlformats.org/officeDocument/2006/relationships/image" Target="../media/image18.png"/><Relationship Id="rId9" Type="http://schemas.openxmlformats.org/officeDocument/2006/relationships/image" Target="../media/image14.png"/><Relationship Id="rId15" Type="http://schemas.openxmlformats.org/officeDocument/2006/relationships/image" Target="../media/image13.png"/><Relationship Id="rId14" Type="http://schemas.openxmlformats.org/officeDocument/2006/relationships/image" Target="../media/image19.png"/><Relationship Id="rId17" Type="http://schemas.openxmlformats.org/officeDocument/2006/relationships/image" Target="../media/image46.png"/><Relationship Id="rId16" Type="http://schemas.openxmlformats.org/officeDocument/2006/relationships/image" Target="../media/image26.png"/><Relationship Id="rId5" Type="http://schemas.openxmlformats.org/officeDocument/2006/relationships/image" Target="../media/image11.png"/><Relationship Id="rId6" Type="http://schemas.openxmlformats.org/officeDocument/2006/relationships/image" Target="../media/image8.png"/><Relationship Id="rId18" Type="http://schemas.openxmlformats.org/officeDocument/2006/relationships/image" Target="../media/image24.png"/><Relationship Id="rId7" Type="http://schemas.openxmlformats.org/officeDocument/2006/relationships/image" Target="../media/image12.png"/><Relationship Id="rId8" Type="http://schemas.openxmlformats.org/officeDocument/2006/relationships/image" Target="../media/image2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2.png"/><Relationship Id="rId4" Type="http://schemas.openxmlformats.org/officeDocument/2006/relationships/image" Target="../media/image30.png"/><Relationship Id="rId5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56.png"/><Relationship Id="rId10" Type="http://schemas.openxmlformats.org/officeDocument/2006/relationships/image" Target="../media/image42.png"/><Relationship Id="rId13" Type="http://schemas.openxmlformats.org/officeDocument/2006/relationships/image" Target="../media/image30.png"/><Relationship Id="rId12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9.png"/><Relationship Id="rId4" Type="http://schemas.openxmlformats.org/officeDocument/2006/relationships/image" Target="../media/image39.png"/><Relationship Id="rId9" Type="http://schemas.openxmlformats.org/officeDocument/2006/relationships/image" Target="../media/image37.png"/><Relationship Id="rId15" Type="http://schemas.openxmlformats.org/officeDocument/2006/relationships/image" Target="../media/image34.png"/><Relationship Id="rId14" Type="http://schemas.openxmlformats.org/officeDocument/2006/relationships/image" Target="../media/image41.png"/><Relationship Id="rId17" Type="http://schemas.openxmlformats.org/officeDocument/2006/relationships/image" Target="../media/image49.png"/><Relationship Id="rId16" Type="http://schemas.openxmlformats.org/officeDocument/2006/relationships/image" Target="../media/image40.png"/><Relationship Id="rId5" Type="http://schemas.openxmlformats.org/officeDocument/2006/relationships/image" Target="../media/image31.png"/><Relationship Id="rId6" Type="http://schemas.openxmlformats.org/officeDocument/2006/relationships/image" Target="../media/image36.png"/><Relationship Id="rId18" Type="http://schemas.openxmlformats.org/officeDocument/2006/relationships/image" Target="../media/image48.png"/><Relationship Id="rId7" Type="http://schemas.openxmlformats.org/officeDocument/2006/relationships/image" Target="../media/image33.png"/><Relationship Id="rId8" Type="http://schemas.openxmlformats.org/officeDocument/2006/relationships/image" Target="../media/image3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0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61.png"/><Relationship Id="rId7" Type="http://schemas.openxmlformats.org/officeDocument/2006/relationships/image" Target="../media/image59.png"/><Relationship Id="rId8" Type="http://schemas.openxmlformats.org/officeDocument/2006/relationships/image" Target="../media/image52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72.png"/><Relationship Id="rId10" Type="http://schemas.openxmlformats.org/officeDocument/2006/relationships/image" Target="../media/image65.png"/><Relationship Id="rId13" Type="http://schemas.openxmlformats.org/officeDocument/2006/relationships/image" Target="../media/image51.png"/><Relationship Id="rId12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4.png"/><Relationship Id="rId4" Type="http://schemas.openxmlformats.org/officeDocument/2006/relationships/image" Target="../media/image55.png"/><Relationship Id="rId9" Type="http://schemas.openxmlformats.org/officeDocument/2006/relationships/image" Target="../media/image62.png"/><Relationship Id="rId14" Type="http://schemas.openxmlformats.org/officeDocument/2006/relationships/image" Target="../media/image75.png"/><Relationship Id="rId5" Type="http://schemas.openxmlformats.org/officeDocument/2006/relationships/image" Target="../media/image57.png"/><Relationship Id="rId6" Type="http://schemas.openxmlformats.org/officeDocument/2006/relationships/image" Target="../media/image54.png"/><Relationship Id="rId7" Type="http://schemas.openxmlformats.org/officeDocument/2006/relationships/image" Target="../media/image45.png"/><Relationship Id="rId8" Type="http://schemas.openxmlformats.org/officeDocument/2006/relationships/image" Target="../media/image58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73.png"/><Relationship Id="rId10" Type="http://schemas.openxmlformats.org/officeDocument/2006/relationships/image" Target="../media/image69.png"/><Relationship Id="rId13" Type="http://schemas.openxmlformats.org/officeDocument/2006/relationships/image" Target="../media/image76.png"/><Relationship Id="rId12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6.png"/><Relationship Id="rId4" Type="http://schemas.openxmlformats.org/officeDocument/2006/relationships/image" Target="../media/image63.png"/><Relationship Id="rId9" Type="http://schemas.openxmlformats.org/officeDocument/2006/relationships/image" Target="../media/image70.png"/><Relationship Id="rId5" Type="http://schemas.openxmlformats.org/officeDocument/2006/relationships/image" Target="../media/image74.png"/><Relationship Id="rId6" Type="http://schemas.openxmlformats.org/officeDocument/2006/relationships/image" Target="../media/image68.png"/><Relationship Id="rId7" Type="http://schemas.openxmlformats.org/officeDocument/2006/relationships/image" Target="../media/image67.png"/><Relationship Id="rId8" Type="http://schemas.openxmlformats.org/officeDocument/2006/relationships/image" Target="../media/image7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2039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3252787" y="962173"/>
            <a:ext cx="56864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1CAA0"/>
                </a:solidFill>
                <a:latin typeface="Inter"/>
                <a:ea typeface="Inter"/>
                <a:cs typeface="Inter"/>
                <a:sym typeface="Inter"/>
              </a:rPr>
              <a:t>DEEP LEARNING  •  MLA0408  •  CO5-AT3 TECHNICAL PRESENTATION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1190386" y="1352698"/>
            <a:ext cx="9811226" cy="1462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Lora"/>
                <a:ea typeface="Lora"/>
                <a:cs typeface="Lora"/>
                <a:sym typeface="Lora"/>
              </a:rPr>
              <a:t>Undercomplete and Regularized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F8FAFC"/>
                </a:solidFill>
                <a:latin typeface="Lora"/>
                <a:ea typeface="Lora"/>
                <a:cs typeface="Lora"/>
                <a:sym typeface="Lora"/>
              </a:rPr>
              <a:t> Autoencoders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286000" y="3044279"/>
            <a:ext cx="7620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How autoencoders compress data through a bottleneck — and learn to reconstruct it again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6286500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Name: Haresh Kumar N L Register No: 192425009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1333500" y="4476601"/>
            <a:ext cx="381000" cy="381000"/>
          </a:xfrm>
          <a:prstGeom prst="roundRect">
            <a:avLst>
              <a:gd fmla="val 50000" name="adj"/>
            </a:avLst>
          </a:prstGeom>
          <a:solidFill>
            <a:srgbClr val="6474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1362075" y="4971901"/>
            <a:ext cx="3238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Input</a:t>
            </a:r>
            <a:endParaRPr/>
          </a:p>
        </p:txBody>
      </p:sp>
      <p:sp>
        <p:nvSpPr>
          <p:cNvPr id="90" name="Google Shape;90;p13"/>
          <p:cNvSpPr/>
          <p:nvPr/>
        </p:nvSpPr>
        <p:spPr>
          <a:xfrm>
            <a:off x="2857500" y="4557563"/>
            <a:ext cx="381000" cy="381000"/>
          </a:xfrm>
          <a:prstGeom prst="roundRect">
            <a:avLst>
              <a:gd fmla="val 50000" name="adj"/>
            </a:avLst>
          </a:prstGeom>
          <a:solidFill>
            <a:srgbClr val="6474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4381500" y="4557563"/>
            <a:ext cx="381000" cy="381000"/>
          </a:xfrm>
          <a:prstGeom prst="roundRect">
            <a:avLst>
              <a:gd fmla="val 50000" name="adj"/>
            </a:avLst>
          </a:prstGeom>
          <a:solidFill>
            <a:srgbClr val="6474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5981700" y="4552801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5719762" y="4971901"/>
            <a:ext cx="7524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1CAA0"/>
                </a:solidFill>
                <a:latin typeface="Inter Medium"/>
                <a:ea typeface="Inter Medium"/>
                <a:cs typeface="Inter Medium"/>
                <a:sym typeface="Inter Medium"/>
              </a:rPr>
              <a:t>Latent code</a:t>
            </a:r>
            <a:endParaRPr/>
          </a:p>
        </p:txBody>
      </p:sp>
      <p:sp>
        <p:nvSpPr>
          <p:cNvPr id="94" name="Google Shape;94;p13"/>
          <p:cNvSpPr/>
          <p:nvPr/>
        </p:nvSpPr>
        <p:spPr>
          <a:xfrm>
            <a:off x="7429500" y="4557563"/>
            <a:ext cx="381000" cy="381000"/>
          </a:xfrm>
          <a:prstGeom prst="roundRect">
            <a:avLst>
              <a:gd fmla="val 50000" name="adj"/>
            </a:avLst>
          </a:prstGeom>
          <a:solidFill>
            <a:srgbClr val="6474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8953500" y="4557563"/>
            <a:ext cx="381000" cy="381000"/>
          </a:xfrm>
          <a:prstGeom prst="roundRect">
            <a:avLst>
              <a:gd fmla="val 50000" name="adj"/>
            </a:avLst>
          </a:prstGeom>
          <a:solidFill>
            <a:srgbClr val="6474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10477500" y="4476601"/>
            <a:ext cx="381000" cy="381000"/>
          </a:xfrm>
          <a:prstGeom prst="roundRect">
            <a:avLst>
              <a:gd fmla="val 50000" name="adj"/>
            </a:avLst>
          </a:prstGeom>
          <a:solidFill>
            <a:srgbClr val="6474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10448925" y="4971901"/>
            <a:ext cx="4381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Output</a:t>
            </a:r>
            <a:endParaRPr/>
          </a:p>
        </p:txBody>
      </p:sp>
      <p:sp>
        <p:nvSpPr>
          <p:cNvPr id="98" name="Google Shape;98;p13"/>
          <p:cNvSpPr/>
          <p:nvPr/>
        </p:nvSpPr>
        <p:spPr>
          <a:xfrm>
            <a:off x="1828800" y="4795688"/>
            <a:ext cx="85344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3" name="Google Shape;10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5695950"/>
            <a:ext cx="1878359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78484" y="5705475"/>
            <a:ext cx="1859309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66419" y="5610225"/>
            <a:ext cx="1859309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54354" y="5705475"/>
            <a:ext cx="1859309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42289" y="5600700"/>
            <a:ext cx="1878359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2945010"/>
            <a:ext cx="4444900" cy="10057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97400" y="1619250"/>
            <a:ext cx="6223099" cy="86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397400" y="2790825"/>
            <a:ext cx="6223099" cy="8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/>
        </p:nvSpPr>
        <p:spPr>
          <a:xfrm>
            <a:off x="571500" y="6410325"/>
            <a:ext cx="11049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MLA0408 • CO5 — Autoencoder Variants 2 / 10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571500" y="476250"/>
            <a:ext cx="11049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1CAA0"/>
                </a:solidFill>
                <a:latin typeface="Inter"/>
                <a:ea typeface="Inter"/>
                <a:cs typeface="Inter"/>
                <a:sym typeface="Inter"/>
              </a:rPr>
              <a:t>INTRODUCTION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571500" y="752475"/>
            <a:ext cx="1160145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Lora"/>
                <a:ea typeface="Lora"/>
                <a:cs typeface="Lora"/>
                <a:sym typeface="Lora"/>
              </a:rPr>
              <a:t>What Is an Autoencoder?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571500" y="1619250"/>
            <a:ext cx="44449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An autoencoder is a neural network trained to learn a compact, efficient representation of its input data — then reconstruct that input from the compressed code.</a:t>
            </a:r>
            <a:endParaRPr/>
          </a:p>
        </p:txBody>
      </p:sp>
      <p:pic>
        <p:nvPicPr>
          <p:cNvPr descr="image.png" id="115" name="Google Shape;115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564159" y="5872162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52094" y="5872162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140029" y="5872162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427964" y="5872162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4"/>
          <p:cNvSpPr txBox="1"/>
          <p:nvPr/>
        </p:nvSpPr>
        <p:spPr>
          <a:xfrm>
            <a:off x="800100" y="3173610"/>
            <a:ext cx="39877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Its objective is simple: make the reconstructed output as close as possible to the original input.</a:t>
            </a:r>
            <a:endParaRPr/>
          </a:p>
        </p:txBody>
      </p:sp>
      <p:pic>
        <p:nvPicPr>
          <p:cNvPr descr="image.png" id="120" name="Google Shape;120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597425" y="18240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597425" y="299561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730775" y="1957387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4"/>
          <p:cNvSpPr txBox="1"/>
          <p:nvPr/>
        </p:nvSpPr>
        <p:spPr>
          <a:xfrm>
            <a:off x="6245125" y="1819275"/>
            <a:ext cx="428053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Encoder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6245125" y="2057400"/>
            <a:ext cx="4076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Converts the raw input into a compact latent representation.</a:t>
            </a:r>
            <a:endParaRPr/>
          </a:p>
        </p:txBody>
      </p:sp>
      <p:pic>
        <p:nvPicPr>
          <p:cNvPr descr="image.png" id="125" name="Google Shape;125;p1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730775" y="3128962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4"/>
          <p:cNvSpPr txBox="1"/>
          <p:nvPr/>
        </p:nvSpPr>
        <p:spPr>
          <a:xfrm>
            <a:off x="6245125" y="2990850"/>
            <a:ext cx="484060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Decoder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6245125" y="3228975"/>
            <a:ext cx="461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Reconstructs the original input back from that latent representation.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4601" y="1619250"/>
            <a:ext cx="2438548" cy="6881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74601" y="2736056"/>
            <a:ext cx="2438548" cy="6691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74601" y="3833812"/>
            <a:ext cx="2438548" cy="6691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74601" y="4931568"/>
            <a:ext cx="2438548" cy="6691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74601" y="6029325"/>
            <a:ext cx="2438548" cy="6881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97400" y="1619250"/>
            <a:ext cx="6223099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97400" y="2733675"/>
            <a:ext cx="6223099" cy="9876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397400" y="3911798"/>
            <a:ext cx="6223099" cy="1685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397400" y="5788223"/>
            <a:ext cx="6223099" cy="9295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635525" y="2095500"/>
            <a:ext cx="5746849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635525" y="3209925"/>
            <a:ext cx="5746849" cy="273248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5"/>
          <p:cNvSpPr txBox="1"/>
          <p:nvPr/>
        </p:nvSpPr>
        <p:spPr>
          <a:xfrm>
            <a:off x="571500" y="6410325"/>
            <a:ext cx="11049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MLA0408 • CO5 — Autoencoder Variants 3 / 10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571500" y="476250"/>
            <a:ext cx="11049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1CAA0"/>
                </a:solidFill>
                <a:latin typeface="Inter"/>
                <a:ea typeface="Inter"/>
                <a:cs typeface="Inter"/>
                <a:sym typeface="Inter"/>
              </a:rPr>
              <a:t>ARCHITECTURE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571500" y="752475"/>
            <a:ext cx="1160145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Lora"/>
                <a:ea typeface="Lora"/>
                <a:cs typeface="Lora"/>
                <a:sym typeface="Lora"/>
              </a:rPr>
              <a:t>How an Autoencoder Works</a:t>
            </a:r>
            <a:endParaRPr/>
          </a:p>
        </p:txBody>
      </p:sp>
      <p:pic>
        <p:nvPicPr>
          <p:cNvPr descr="image.png" id="146" name="Google Shape;146;p1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708076" y="2402681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2708076" y="3500437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2708076" y="4598193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2708076" y="5695950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5"/>
          <p:cNvSpPr txBox="1"/>
          <p:nvPr/>
        </p:nvSpPr>
        <p:spPr>
          <a:xfrm>
            <a:off x="5635525" y="1857375"/>
            <a:ext cx="5746849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1CAA0"/>
                </a:solidFill>
                <a:latin typeface="Inter"/>
                <a:ea typeface="Inter"/>
                <a:cs typeface="Inter"/>
                <a:sym typeface="Inter"/>
              </a:rPr>
              <a:t>ENCODING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5635525" y="2971800"/>
            <a:ext cx="5746849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1CAA0"/>
                </a:solidFill>
                <a:latin typeface="Inter"/>
                <a:ea typeface="Inter"/>
                <a:cs typeface="Inter"/>
                <a:sym typeface="Inter"/>
              </a:rPr>
              <a:t>DECODING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5587900" y="5978723"/>
            <a:ext cx="5842099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The encoder compresses the information; the decoder attempts to recover the original data.</a:t>
            </a:r>
            <a:endParaRPr/>
          </a:p>
        </p:txBody>
      </p:sp>
      <p:pic>
        <p:nvPicPr>
          <p:cNvPr descr="image.png" id="153" name="Google Shape;153;p1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5635525" y="2095500"/>
            <a:ext cx="953839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5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5635525" y="3209925"/>
            <a:ext cx="991939" cy="273248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5"/>
          <p:cNvSpPr txBox="1"/>
          <p:nvPr/>
        </p:nvSpPr>
        <p:spPr>
          <a:xfrm>
            <a:off x="5854600" y="4140398"/>
            <a:ext cx="553729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x</a:t>
            </a: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— the original input</a:t>
            </a:r>
            <a:endParaRPr/>
          </a:p>
        </p:txBody>
      </p:sp>
      <p:sp>
        <p:nvSpPr>
          <p:cNvPr id="156" name="Google Shape;156;p15"/>
          <p:cNvSpPr txBox="1"/>
          <p:nvPr/>
        </p:nvSpPr>
        <p:spPr>
          <a:xfrm>
            <a:off x="5854600" y="4549973"/>
            <a:ext cx="553729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z</a:t>
            </a: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— the latent representation</a:t>
            </a:r>
            <a:endParaRPr/>
          </a:p>
        </p:txBody>
      </p:sp>
      <p:sp>
        <p:nvSpPr>
          <p:cNvPr id="157" name="Google Shape;157;p15"/>
          <p:cNvSpPr txBox="1"/>
          <p:nvPr/>
        </p:nvSpPr>
        <p:spPr>
          <a:xfrm>
            <a:off x="5854600" y="4959548"/>
            <a:ext cx="553729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x̂</a:t>
            </a: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— the reconstructed input</a:t>
            </a:r>
            <a:endParaRPr/>
          </a:p>
        </p:txBody>
      </p:sp>
      <p:sp>
        <p:nvSpPr>
          <p:cNvPr id="158" name="Google Shape;158;p15"/>
          <p:cNvSpPr txBox="1"/>
          <p:nvPr/>
        </p:nvSpPr>
        <p:spPr>
          <a:xfrm>
            <a:off x="5626000" y="4102298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1CAA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9" name="Google Shape;159;p15"/>
          <p:cNvSpPr txBox="1"/>
          <p:nvPr/>
        </p:nvSpPr>
        <p:spPr>
          <a:xfrm>
            <a:off x="5626000" y="4511873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1CAA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0" name="Google Shape;160;p15"/>
          <p:cNvSpPr txBox="1"/>
          <p:nvPr/>
        </p:nvSpPr>
        <p:spPr>
          <a:xfrm>
            <a:off x="5626000" y="4921448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1CAA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5" name="Google Shape;16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5244405"/>
            <a:ext cx="54483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2200" y="5244405"/>
            <a:ext cx="54483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5892105"/>
            <a:ext cx="54483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2200" y="5892105"/>
            <a:ext cx="5448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6"/>
          <p:cNvSpPr txBox="1"/>
          <p:nvPr/>
        </p:nvSpPr>
        <p:spPr>
          <a:xfrm>
            <a:off x="571500" y="6410325"/>
            <a:ext cx="11049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MLA0408 • CO5 — Autoencoder Variants 4 / 10</a:t>
            </a:r>
            <a:endParaRPr/>
          </a:p>
        </p:txBody>
      </p:sp>
      <p:sp>
        <p:nvSpPr>
          <p:cNvPr id="170" name="Google Shape;170;p16"/>
          <p:cNvSpPr txBox="1"/>
          <p:nvPr/>
        </p:nvSpPr>
        <p:spPr>
          <a:xfrm>
            <a:off x="571500" y="476250"/>
            <a:ext cx="11049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1CAA0"/>
                </a:solidFill>
                <a:latin typeface="Inter"/>
                <a:ea typeface="Inter"/>
                <a:cs typeface="Inter"/>
                <a:sym typeface="Inter"/>
              </a:rPr>
              <a:t>UNDERCOMPLETE AUTOENCODERS</a:t>
            </a:r>
            <a:endParaRPr/>
          </a:p>
        </p:txBody>
      </p:sp>
      <p:sp>
        <p:nvSpPr>
          <p:cNvPr id="171" name="Google Shape;171;p16"/>
          <p:cNvSpPr txBox="1"/>
          <p:nvPr/>
        </p:nvSpPr>
        <p:spPr>
          <a:xfrm>
            <a:off x="571500" y="752475"/>
            <a:ext cx="1160145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Lora"/>
                <a:ea typeface="Lora"/>
                <a:cs typeface="Lora"/>
                <a:sym typeface="Lora"/>
              </a:rPr>
              <a:t>Learning Through a Bottleneck</a:t>
            </a:r>
            <a:endParaRPr/>
          </a:p>
        </p:txBody>
      </p:sp>
      <p:sp>
        <p:nvSpPr>
          <p:cNvPr id="172" name="Google Shape;172;p16"/>
          <p:cNvSpPr txBox="1"/>
          <p:nvPr/>
        </p:nvSpPr>
        <p:spPr>
          <a:xfrm>
            <a:off x="571500" y="1619250"/>
            <a:ext cx="11049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An undercomplete autoencoder has a latent representation with fewer dimensions than the input — forcing the network to learn only the most important underlying features.</a:t>
            </a:r>
            <a:endParaRPr/>
          </a:p>
        </p:txBody>
      </p:sp>
      <p:sp>
        <p:nvSpPr>
          <p:cNvPr id="173" name="Google Shape;173;p16"/>
          <p:cNvSpPr txBox="1"/>
          <p:nvPr/>
        </p:nvSpPr>
        <p:spPr>
          <a:xfrm>
            <a:off x="952500" y="4796730"/>
            <a:ext cx="10287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100 Input Features</a:t>
            </a:r>
            <a:r>
              <a:rPr b="0" i="0" lang="en-US" sz="1050" u="none" cap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b="0" i="0" lang="en-US" sz="1050" u="none" cap="none" strike="noStrike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10 Latent Features</a:t>
            </a:r>
            <a:r>
              <a:rPr b="0" i="0" lang="en-US" sz="1050" u="none" cap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b="0" i="0" lang="en-US" sz="1050" u="none" cap="none" strike="noStrike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100 Reconstructed Features</a:t>
            </a:r>
            <a:endParaRPr/>
          </a:p>
        </p:txBody>
      </p:sp>
      <p:sp>
        <p:nvSpPr>
          <p:cNvPr id="174" name="Google Shape;174;p16"/>
          <p:cNvSpPr txBox="1"/>
          <p:nvPr/>
        </p:nvSpPr>
        <p:spPr>
          <a:xfrm>
            <a:off x="4986337" y="3325117"/>
            <a:ext cx="5429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Encoder</a:t>
            </a:r>
            <a:endParaRPr/>
          </a:p>
        </p:txBody>
      </p:sp>
      <p:sp>
        <p:nvSpPr>
          <p:cNvPr id="175" name="Google Shape;175;p16"/>
          <p:cNvSpPr txBox="1"/>
          <p:nvPr/>
        </p:nvSpPr>
        <p:spPr>
          <a:xfrm>
            <a:off x="6653212" y="3325117"/>
            <a:ext cx="552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Decoder</a:t>
            </a:r>
            <a:endParaRPr/>
          </a:p>
        </p:txBody>
      </p:sp>
      <p:sp>
        <p:nvSpPr>
          <p:cNvPr id="176" name="Google Shape;176;p16"/>
          <p:cNvSpPr/>
          <p:nvPr/>
        </p:nvSpPr>
        <p:spPr>
          <a:xfrm>
            <a:off x="3405187" y="2701230"/>
            <a:ext cx="152400" cy="1714500"/>
          </a:xfrm>
          <a:prstGeom prst="roundRect">
            <a:avLst>
              <a:gd fmla="val 25000" name="adj"/>
            </a:avLst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/>
          <p:nvPr/>
        </p:nvSpPr>
        <p:spPr>
          <a:xfrm>
            <a:off x="3614737" y="2891730"/>
            <a:ext cx="152400" cy="1333500"/>
          </a:xfrm>
          <a:prstGeom prst="roundRect">
            <a:avLst>
              <a:gd fmla="val 25000" name="adj"/>
            </a:avLst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6"/>
          <p:cNvSpPr/>
          <p:nvPr/>
        </p:nvSpPr>
        <p:spPr>
          <a:xfrm>
            <a:off x="3824287" y="2891730"/>
            <a:ext cx="152400" cy="1333500"/>
          </a:xfrm>
          <a:prstGeom prst="roundRect">
            <a:avLst>
              <a:gd fmla="val 25000" name="adj"/>
            </a:avLst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6"/>
          <p:cNvSpPr/>
          <p:nvPr/>
        </p:nvSpPr>
        <p:spPr>
          <a:xfrm>
            <a:off x="4033837" y="2701230"/>
            <a:ext cx="152400" cy="1714500"/>
          </a:xfrm>
          <a:prstGeom prst="roundRect">
            <a:avLst>
              <a:gd fmla="val 25000" name="adj"/>
            </a:avLst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6"/>
          <p:cNvSpPr/>
          <p:nvPr/>
        </p:nvSpPr>
        <p:spPr>
          <a:xfrm>
            <a:off x="4243387" y="2701230"/>
            <a:ext cx="152400" cy="1714500"/>
          </a:xfrm>
          <a:prstGeom prst="roundRect">
            <a:avLst>
              <a:gd fmla="val 25000" name="adj"/>
            </a:avLst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6"/>
          <p:cNvSpPr/>
          <p:nvPr/>
        </p:nvSpPr>
        <p:spPr>
          <a:xfrm>
            <a:off x="4452937" y="2891730"/>
            <a:ext cx="152400" cy="1333500"/>
          </a:xfrm>
          <a:prstGeom prst="roundRect">
            <a:avLst>
              <a:gd fmla="val 25000" name="adj"/>
            </a:avLst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2" name="Google Shape;18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57787" y="3563242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6"/>
          <p:cNvSpPr/>
          <p:nvPr/>
        </p:nvSpPr>
        <p:spPr>
          <a:xfrm>
            <a:off x="5910262" y="3082230"/>
            <a:ext cx="152400" cy="952500"/>
          </a:xfrm>
          <a:prstGeom prst="roundRect">
            <a:avLst>
              <a:gd fmla="val 25000" name="adj"/>
            </a:avLst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6"/>
          <p:cNvSpPr/>
          <p:nvPr/>
        </p:nvSpPr>
        <p:spPr>
          <a:xfrm>
            <a:off x="6119812" y="3082230"/>
            <a:ext cx="152400" cy="952500"/>
          </a:xfrm>
          <a:prstGeom prst="roundRect">
            <a:avLst>
              <a:gd fmla="val 25000" name="adj"/>
            </a:avLst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5" name="Google Shape;18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29425" y="3563242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6"/>
          <p:cNvSpPr/>
          <p:nvPr/>
        </p:nvSpPr>
        <p:spPr>
          <a:xfrm>
            <a:off x="7586662" y="2701230"/>
            <a:ext cx="152400" cy="1714500"/>
          </a:xfrm>
          <a:prstGeom prst="roundRect">
            <a:avLst>
              <a:gd fmla="val 25000" name="adj"/>
            </a:avLst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6"/>
          <p:cNvSpPr/>
          <p:nvPr/>
        </p:nvSpPr>
        <p:spPr>
          <a:xfrm>
            <a:off x="7796212" y="2891730"/>
            <a:ext cx="152400" cy="1333500"/>
          </a:xfrm>
          <a:prstGeom prst="roundRect">
            <a:avLst>
              <a:gd fmla="val 25000" name="adj"/>
            </a:avLst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6"/>
          <p:cNvSpPr/>
          <p:nvPr/>
        </p:nvSpPr>
        <p:spPr>
          <a:xfrm>
            <a:off x="8005762" y="2891730"/>
            <a:ext cx="152400" cy="1333500"/>
          </a:xfrm>
          <a:prstGeom prst="roundRect">
            <a:avLst>
              <a:gd fmla="val 25000" name="adj"/>
            </a:avLst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6"/>
          <p:cNvSpPr/>
          <p:nvPr/>
        </p:nvSpPr>
        <p:spPr>
          <a:xfrm>
            <a:off x="8215312" y="2701230"/>
            <a:ext cx="152400" cy="1714500"/>
          </a:xfrm>
          <a:prstGeom prst="roundRect">
            <a:avLst>
              <a:gd fmla="val 25000" name="adj"/>
            </a:avLst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6"/>
          <p:cNvSpPr/>
          <p:nvPr/>
        </p:nvSpPr>
        <p:spPr>
          <a:xfrm>
            <a:off x="8424862" y="2701230"/>
            <a:ext cx="152400" cy="1714500"/>
          </a:xfrm>
          <a:prstGeom prst="roundRect">
            <a:avLst>
              <a:gd fmla="val 25000" name="adj"/>
            </a:avLst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6"/>
          <p:cNvSpPr/>
          <p:nvPr/>
        </p:nvSpPr>
        <p:spPr>
          <a:xfrm>
            <a:off x="8634412" y="2891730"/>
            <a:ext cx="152400" cy="1333500"/>
          </a:xfrm>
          <a:prstGeom prst="roundRect">
            <a:avLst>
              <a:gd fmla="val 25000" name="adj"/>
            </a:avLst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6"/>
          <p:cNvSpPr/>
          <p:nvPr/>
        </p:nvSpPr>
        <p:spPr>
          <a:xfrm>
            <a:off x="800100" y="5434905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6"/>
          <p:cNvSpPr txBox="1"/>
          <p:nvPr/>
        </p:nvSpPr>
        <p:spPr>
          <a:xfrm>
            <a:off x="1028700" y="5396805"/>
            <a:ext cx="26003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Latent dimension &lt; Input dimension</a:t>
            </a:r>
            <a:endParaRPr/>
          </a:p>
        </p:txBody>
      </p:sp>
      <p:sp>
        <p:nvSpPr>
          <p:cNvPr id="194" name="Google Shape;194;p16"/>
          <p:cNvSpPr/>
          <p:nvPr/>
        </p:nvSpPr>
        <p:spPr>
          <a:xfrm>
            <a:off x="6400800" y="5434905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6"/>
          <p:cNvSpPr txBox="1"/>
          <p:nvPr/>
        </p:nvSpPr>
        <p:spPr>
          <a:xfrm>
            <a:off x="6629400" y="5396805"/>
            <a:ext cx="31908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Forces the model to learn important features</a:t>
            </a:r>
            <a:endParaRPr/>
          </a:p>
        </p:txBody>
      </p:sp>
      <p:sp>
        <p:nvSpPr>
          <p:cNvPr id="196" name="Google Shape;196;p16"/>
          <p:cNvSpPr/>
          <p:nvPr/>
        </p:nvSpPr>
        <p:spPr>
          <a:xfrm>
            <a:off x="800100" y="6082605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6"/>
          <p:cNvSpPr txBox="1"/>
          <p:nvPr/>
        </p:nvSpPr>
        <p:spPr>
          <a:xfrm>
            <a:off x="1028700" y="6044505"/>
            <a:ext cx="24574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Prevents simply copying the input</a:t>
            </a:r>
            <a:endParaRPr/>
          </a:p>
        </p:txBody>
      </p:sp>
      <p:sp>
        <p:nvSpPr>
          <p:cNvPr id="198" name="Google Shape;198;p16"/>
          <p:cNvSpPr/>
          <p:nvPr/>
        </p:nvSpPr>
        <p:spPr>
          <a:xfrm>
            <a:off x="6400800" y="6082605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6"/>
          <p:cNvSpPr txBox="1"/>
          <p:nvPr/>
        </p:nvSpPr>
        <p:spPr>
          <a:xfrm>
            <a:off x="6629400" y="6044505"/>
            <a:ext cx="2552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Useful for dimensionality reduction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4" name="Google Shape;20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619250"/>
            <a:ext cx="3244899" cy="30354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73624" y="1619250"/>
            <a:ext cx="3244899" cy="30354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75749" y="1619250"/>
            <a:ext cx="3244899" cy="30354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03375" y="19145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9625" y="3845123"/>
            <a:ext cx="2768649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05500" y="19145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807624" y="19145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613874" y="3781425"/>
            <a:ext cx="2768649" cy="578048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7"/>
          <p:cNvSpPr txBox="1"/>
          <p:nvPr/>
        </p:nvSpPr>
        <p:spPr>
          <a:xfrm>
            <a:off x="571500" y="6410325"/>
            <a:ext cx="11049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MLA0408 • CO5 — Autoencoder Variants 5 / 10</a:t>
            </a:r>
            <a:endParaRPr/>
          </a:p>
        </p:txBody>
      </p:sp>
      <p:sp>
        <p:nvSpPr>
          <p:cNvPr id="213" name="Google Shape;213;p17"/>
          <p:cNvSpPr txBox="1"/>
          <p:nvPr/>
        </p:nvSpPr>
        <p:spPr>
          <a:xfrm>
            <a:off x="571500" y="476250"/>
            <a:ext cx="11049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1CAA0"/>
                </a:solidFill>
                <a:latin typeface="Inter"/>
                <a:ea typeface="Inter"/>
                <a:cs typeface="Inter"/>
                <a:sym typeface="Inter"/>
              </a:rPr>
              <a:t>UNDERCOMPLETE AUTOENCODERS</a:t>
            </a:r>
            <a:endParaRPr/>
          </a:p>
        </p:txBody>
      </p:sp>
      <p:sp>
        <p:nvSpPr>
          <p:cNvPr id="214" name="Google Shape;214;p17"/>
          <p:cNvSpPr txBox="1"/>
          <p:nvPr/>
        </p:nvSpPr>
        <p:spPr>
          <a:xfrm>
            <a:off x="571500" y="752475"/>
            <a:ext cx="1160145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Lora"/>
                <a:ea typeface="Lora"/>
                <a:cs typeface="Lora"/>
                <a:sym typeface="Lora"/>
              </a:rPr>
              <a:t>From Input to Reconstruction</a:t>
            </a:r>
            <a:endParaRPr/>
          </a:p>
        </p:txBody>
      </p:sp>
      <p:pic>
        <p:nvPicPr>
          <p:cNvPr descr="image.png" id="215" name="Google Shape;215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71500" y="4883348"/>
            <a:ext cx="11049000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681537" y="5107185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129337" y="5107185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005762" y="5107185"/>
            <a:ext cx="11430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7"/>
          <p:cNvSpPr txBox="1"/>
          <p:nvPr/>
        </p:nvSpPr>
        <p:spPr>
          <a:xfrm>
            <a:off x="1708814" y="2486025"/>
            <a:ext cx="97012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Lora"/>
                <a:ea typeface="Lora"/>
                <a:cs typeface="Lora"/>
                <a:sym typeface="Lora"/>
              </a:rPr>
              <a:t>Encoding</a:t>
            </a:r>
            <a:endParaRPr/>
          </a:p>
        </p:txBody>
      </p:sp>
      <p:sp>
        <p:nvSpPr>
          <p:cNvPr id="220" name="Google Shape;220;p17"/>
          <p:cNvSpPr txBox="1"/>
          <p:nvPr/>
        </p:nvSpPr>
        <p:spPr>
          <a:xfrm>
            <a:off x="809625" y="2905125"/>
            <a:ext cx="276864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encoder transforms high-dimensional input into a smaller latent vector.</a:t>
            </a:r>
            <a:endParaRPr/>
          </a:p>
        </p:txBody>
      </p:sp>
      <p:pic>
        <p:nvPicPr>
          <p:cNvPr descr="image.png" id="221" name="Google Shape;221;p1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044999" y="3022699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7"/>
          <p:cNvSpPr txBox="1"/>
          <p:nvPr/>
        </p:nvSpPr>
        <p:spPr>
          <a:xfrm>
            <a:off x="4905851" y="2486025"/>
            <a:ext cx="238029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Lora"/>
                <a:ea typeface="Lora"/>
                <a:cs typeface="Lora"/>
                <a:sym typeface="Lora"/>
              </a:rPr>
              <a:t>Latent Representation</a:t>
            </a:r>
            <a:endParaRPr/>
          </a:p>
        </p:txBody>
      </p:sp>
      <p:sp>
        <p:nvSpPr>
          <p:cNvPr id="223" name="Google Shape;223;p17"/>
          <p:cNvSpPr txBox="1"/>
          <p:nvPr/>
        </p:nvSpPr>
        <p:spPr>
          <a:xfrm>
            <a:off x="4711749" y="2905125"/>
            <a:ext cx="276864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Holds the compressed, important information — redundant or unnecessary detail is removed.</a:t>
            </a:r>
            <a:endParaRPr/>
          </a:p>
        </p:txBody>
      </p:sp>
      <p:pic>
        <p:nvPicPr>
          <p:cNvPr descr="image.png" id="224" name="Google Shape;224;p1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867400" y="371177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1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947124" y="3022699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7"/>
          <p:cNvSpPr txBox="1"/>
          <p:nvPr/>
        </p:nvSpPr>
        <p:spPr>
          <a:xfrm>
            <a:off x="9508063" y="2486025"/>
            <a:ext cx="98012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Lora"/>
                <a:ea typeface="Lora"/>
                <a:cs typeface="Lora"/>
                <a:sym typeface="Lora"/>
              </a:rPr>
              <a:t>Decoding</a:t>
            </a:r>
            <a:endParaRPr/>
          </a:p>
        </p:txBody>
      </p:sp>
      <p:sp>
        <p:nvSpPr>
          <p:cNvPr id="227" name="Google Shape;227;p17"/>
          <p:cNvSpPr txBox="1"/>
          <p:nvPr/>
        </p:nvSpPr>
        <p:spPr>
          <a:xfrm>
            <a:off x="8613874" y="2905125"/>
            <a:ext cx="276864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decoder reconstructs the original input from that compressed latent vector.</a:t>
            </a:r>
            <a:endParaRPr/>
          </a:p>
        </p:txBody>
      </p:sp>
      <p:pic>
        <p:nvPicPr>
          <p:cNvPr descr="image.png" id="228" name="Google Shape;228;p1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423987" y="3997523"/>
            <a:ext cx="15397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17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5986462" y="3845123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17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9141767" y="3933825"/>
            <a:ext cx="1712714" cy="2732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5" name="Google Shape;23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7400" y="1619250"/>
            <a:ext cx="6223099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004095"/>
            <a:ext cx="4444900" cy="14647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97400" y="1619250"/>
            <a:ext cx="6223099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8"/>
          <p:cNvSpPr txBox="1"/>
          <p:nvPr/>
        </p:nvSpPr>
        <p:spPr>
          <a:xfrm>
            <a:off x="571500" y="6410325"/>
            <a:ext cx="11049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MLA0408 • CO5 — Autoencoder Variants 6 / 10</a:t>
            </a:r>
            <a:endParaRPr/>
          </a:p>
        </p:txBody>
      </p:sp>
      <p:sp>
        <p:nvSpPr>
          <p:cNvPr id="239" name="Google Shape;239;p18"/>
          <p:cNvSpPr txBox="1"/>
          <p:nvPr/>
        </p:nvSpPr>
        <p:spPr>
          <a:xfrm>
            <a:off x="571500" y="476250"/>
            <a:ext cx="11049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1CAA0"/>
                </a:solidFill>
                <a:latin typeface="Inter"/>
                <a:ea typeface="Inter"/>
                <a:cs typeface="Inter"/>
                <a:sym typeface="Inter"/>
              </a:rPr>
              <a:t>TRAINING OBJECTIVE</a:t>
            </a:r>
            <a:endParaRPr/>
          </a:p>
        </p:txBody>
      </p:sp>
      <p:sp>
        <p:nvSpPr>
          <p:cNvPr id="240" name="Google Shape;240;p18"/>
          <p:cNvSpPr txBox="1"/>
          <p:nvPr/>
        </p:nvSpPr>
        <p:spPr>
          <a:xfrm>
            <a:off x="571500" y="752475"/>
            <a:ext cx="1160145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Lora"/>
                <a:ea typeface="Lora"/>
                <a:cs typeface="Lora"/>
                <a:sym typeface="Lora"/>
              </a:rPr>
              <a:t>Measuring Reconstruction Loss</a:t>
            </a:r>
            <a:endParaRPr/>
          </a:p>
        </p:txBody>
      </p:sp>
      <p:sp>
        <p:nvSpPr>
          <p:cNvPr id="241" name="Google Shape;241;p18"/>
          <p:cNvSpPr txBox="1"/>
          <p:nvPr/>
        </p:nvSpPr>
        <p:spPr>
          <a:xfrm>
            <a:off x="571500" y="1619250"/>
            <a:ext cx="44449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The autoencoder learns by minimizing the difference between its original input and the reconstructed output.</a:t>
            </a:r>
            <a:endParaRPr/>
          </a:p>
        </p:txBody>
      </p:sp>
      <p:sp>
        <p:nvSpPr>
          <p:cNvPr id="242" name="Google Shape;242;p18"/>
          <p:cNvSpPr txBox="1"/>
          <p:nvPr/>
        </p:nvSpPr>
        <p:spPr>
          <a:xfrm>
            <a:off x="571500" y="2727870"/>
            <a:ext cx="44449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1CAA0"/>
                </a:solidFill>
                <a:latin typeface="Inter"/>
                <a:ea typeface="Inter"/>
                <a:cs typeface="Inter"/>
                <a:sym typeface="Inter"/>
              </a:rPr>
              <a:t>MEAN SQUARED ERROR (MSE)</a:t>
            </a:r>
            <a:endParaRPr/>
          </a:p>
        </p:txBody>
      </p:sp>
      <p:pic>
        <p:nvPicPr>
          <p:cNvPr descr="image.png" id="243" name="Google Shape;24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55712" y="3385095"/>
            <a:ext cx="2276475" cy="702766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8"/>
          <p:cNvSpPr txBox="1"/>
          <p:nvPr/>
        </p:nvSpPr>
        <p:spPr>
          <a:xfrm>
            <a:off x="895350" y="4754612"/>
            <a:ext cx="4121050" cy="2961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xi</a:t>
            </a: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— the original value</a:t>
            </a:r>
            <a:endParaRPr/>
          </a:p>
        </p:txBody>
      </p:sp>
      <p:sp>
        <p:nvSpPr>
          <p:cNvPr id="245" name="Google Shape;245;p18"/>
          <p:cNvSpPr txBox="1"/>
          <p:nvPr/>
        </p:nvSpPr>
        <p:spPr>
          <a:xfrm>
            <a:off x="895350" y="5203180"/>
            <a:ext cx="4121050" cy="2961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x̂i</a:t>
            </a: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— the reconstructed value</a:t>
            </a:r>
            <a:endParaRPr/>
          </a:p>
        </p:txBody>
      </p:sp>
      <p:sp>
        <p:nvSpPr>
          <p:cNvPr id="246" name="Google Shape;246;p18"/>
          <p:cNvSpPr txBox="1"/>
          <p:nvPr/>
        </p:nvSpPr>
        <p:spPr>
          <a:xfrm>
            <a:off x="895350" y="5651748"/>
            <a:ext cx="41210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</a:t>
            </a: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— the number of features</a:t>
            </a:r>
            <a:endParaRPr/>
          </a:p>
        </p:txBody>
      </p:sp>
      <p:pic>
        <p:nvPicPr>
          <p:cNvPr descr="image.png" id="247" name="Google Shape;247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683150" y="18097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8"/>
          <p:cNvSpPr txBox="1"/>
          <p:nvPr/>
        </p:nvSpPr>
        <p:spPr>
          <a:xfrm>
            <a:off x="6330850" y="1866900"/>
            <a:ext cx="411051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Lora"/>
                <a:ea typeface="Lora"/>
                <a:cs typeface="Lora"/>
                <a:sym typeface="Lora"/>
              </a:rPr>
              <a:t>Minimize Reconstruction Loss</a:t>
            </a:r>
            <a:endParaRPr/>
          </a:p>
        </p:txBody>
      </p:sp>
      <p:sp>
        <p:nvSpPr>
          <p:cNvPr id="249" name="Google Shape;249;p18"/>
          <p:cNvSpPr txBox="1"/>
          <p:nvPr/>
        </p:nvSpPr>
        <p:spPr>
          <a:xfrm>
            <a:off x="666750" y="4716512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1CAA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50" name="Google Shape;250;p18"/>
          <p:cNvSpPr txBox="1"/>
          <p:nvPr/>
        </p:nvSpPr>
        <p:spPr>
          <a:xfrm>
            <a:off x="666750" y="5165080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1CAA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51" name="Google Shape;251;p18"/>
          <p:cNvSpPr txBox="1"/>
          <p:nvPr/>
        </p:nvSpPr>
        <p:spPr>
          <a:xfrm>
            <a:off x="666750" y="5613648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1CAA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pic>
        <p:nvPicPr>
          <p:cNvPr descr="image.png" id="252" name="Google Shape;252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6500" y="1943100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7" name="Google Shape;25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891730"/>
            <a:ext cx="533400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659510"/>
            <a:ext cx="5334000" cy="13105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085975"/>
            <a:ext cx="5334000" cy="86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3143250"/>
            <a:ext cx="5334000" cy="86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4200525"/>
            <a:ext cx="5334000" cy="1095375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9"/>
          <p:cNvSpPr txBox="1"/>
          <p:nvPr/>
        </p:nvSpPr>
        <p:spPr>
          <a:xfrm>
            <a:off x="571500" y="6410325"/>
            <a:ext cx="11049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MLA0408 • CO5 — Autoencoder Variants 7 / 10</a:t>
            </a:r>
            <a:endParaRPr/>
          </a:p>
        </p:txBody>
      </p:sp>
      <p:sp>
        <p:nvSpPr>
          <p:cNvPr id="263" name="Google Shape;263;p19"/>
          <p:cNvSpPr txBox="1"/>
          <p:nvPr/>
        </p:nvSpPr>
        <p:spPr>
          <a:xfrm>
            <a:off x="571500" y="476250"/>
            <a:ext cx="11049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1CAA0"/>
                </a:solidFill>
                <a:latin typeface="Inter"/>
                <a:ea typeface="Inter"/>
                <a:cs typeface="Inter"/>
                <a:sym typeface="Inter"/>
              </a:rPr>
              <a:t>ADVANCED CONCEPTS</a:t>
            </a:r>
            <a:endParaRPr/>
          </a:p>
        </p:txBody>
      </p:sp>
      <p:sp>
        <p:nvSpPr>
          <p:cNvPr id="264" name="Google Shape;264;p19"/>
          <p:cNvSpPr txBox="1"/>
          <p:nvPr/>
        </p:nvSpPr>
        <p:spPr>
          <a:xfrm>
            <a:off x="571500" y="752475"/>
            <a:ext cx="1160145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Lora"/>
                <a:ea typeface="Lora"/>
                <a:cs typeface="Lora"/>
                <a:sym typeface="Lora"/>
              </a:rPr>
              <a:t>Regularized Autoencoders</a:t>
            </a:r>
            <a:endParaRPr/>
          </a:p>
        </p:txBody>
      </p:sp>
      <p:sp>
        <p:nvSpPr>
          <p:cNvPr id="265" name="Google Shape;265;p19"/>
          <p:cNvSpPr txBox="1"/>
          <p:nvPr/>
        </p:nvSpPr>
        <p:spPr>
          <a:xfrm>
            <a:off x="571500" y="1619250"/>
            <a:ext cx="5600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Lora"/>
                <a:ea typeface="Lora"/>
                <a:cs typeface="Lora"/>
                <a:sym typeface="Lora"/>
              </a:rPr>
              <a:t>Why Regularization?</a:t>
            </a:r>
            <a:endParaRPr/>
          </a:p>
        </p:txBody>
      </p:sp>
      <p:sp>
        <p:nvSpPr>
          <p:cNvPr id="266" name="Google Shape;266;p19"/>
          <p:cNvSpPr txBox="1"/>
          <p:nvPr/>
        </p:nvSpPr>
        <p:spPr>
          <a:xfrm>
            <a:off x="571500" y="2152650"/>
            <a:ext cx="5334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 powerful autoencoder could simply learn an identity function, essentially memorizing the data:</a:t>
            </a:r>
            <a:endParaRPr/>
          </a:p>
        </p:txBody>
      </p:sp>
      <p:sp>
        <p:nvSpPr>
          <p:cNvPr id="267" name="Google Shape;267;p19"/>
          <p:cNvSpPr txBox="1"/>
          <p:nvPr/>
        </p:nvSpPr>
        <p:spPr>
          <a:xfrm>
            <a:off x="571500" y="3729930"/>
            <a:ext cx="5334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Regularization encourages the model to learn </a:t>
            </a:r>
            <a:r>
              <a:rPr b="0" i="0" lang="en-US" sz="13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meaningful and useful features</a:t>
            </a: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instead of just copying data.</a:t>
            </a:r>
            <a:endParaRPr/>
          </a:p>
        </p:txBody>
      </p:sp>
      <p:sp>
        <p:nvSpPr>
          <p:cNvPr id="268" name="Google Shape;268;p19"/>
          <p:cNvSpPr txBox="1"/>
          <p:nvPr/>
        </p:nvSpPr>
        <p:spPr>
          <a:xfrm>
            <a:off x="6286500" y="1619250"/>
            <a:ext cx="5334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1CAA0"/>
                </a:solidFill>
                <a:latin typeface="Inter"/>
                <a:ea typeface="Inter"/>
                <a:cs typeface="Inter"/>
                <a:sym typeface="Inter"/>
              </a:rPr>
              <a:t>COMMON APPROACHES</a:t>
            </a:r>
            <a:endParaRPr/>
          </a:p>
        </p:txBody>
      </p:sp>
      <p:pic>
        <p:nvPicPr>
          <p:cNvPr descr="image.png" id="269" name="Google Shape;269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605087" y="3139380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9"/>
          <p:cNvSpPr txBox="1"/>
          <p:nvPr/>
        </p:nvSpPr>
        <p:spPr>
          <a:xfrm>
            <a:off x="800100" y="4888110"/>
            <a:ext cx="512064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CAA0"/>
                </a:solidFill>
                <a:latin typeface="Inter"/>
                <a:ea typeface="Inter"/>
                <a:cs typeface="Inter"/>
                <a:sym typeface="Inter"/>
              </a:rPr>
              <a:t>MAIN PURPOSE</a:t>
            </a:r>
            <a:endParaRPr/>
          </a:p>
        </p:txBody>
      </p:sp>
      <p:sp>
        <p:nvSpPr>
          <p:cNvPr id="271" name="Google Shape;271;p19"/>
          <p:cNvSpPr txBox="1"/>
          <p:nvPr/>
        </p:nvSpPr>
        <p:spPr>
          <a:xfrm>
            <a:off x="800100" y="5154810"/>
            <a:ext cx="48768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Prevent unwanted learning → Improve feature representation → Increase robustness</a:t>
            </a:r>
            <a:endParaRPr/>
          </a:p>
        </p:txBody>
      </p:sp>
      <p:pic>
        <p:nvPicPr>
          <p:cNvPr descr="image.png" id="272" name="Google Shape;272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86525" y="22907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3" name="Google Shape;273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86525" y="33480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486525" y="451961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629400" y="2424112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9"/>
          <p:cNvSpPr txBox="1"/>
          <p:nvPr/>
        </p:nvSpPr>
        <p:spPr>
          <a:xfrm>
            <a:off x="7134225" y="2286000"/>
            <a:ext cx="404050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Sparse Autoencoder</a:t>
            </a:r>
            <a:endParaRPr/>
          </a:p>
        </p:txBody>
      </p:sp>
      <p:sp>
        <p:nvSpPr>
          <p:cNvPr id="277" name="Google Shape;277;p19"/>
          <p:cNvSpPr txBox="1"/>
          <p:nvPr/>
        </p:nvSpPr>
        <p:spPr>
          <a:xfrm>
            <a:off x="7134225" y="2524125"/>
            <a:ext cx="3848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Encourages only a small number of neurons to be active.</a:t>
            </a:r>
            <a:endParaRPr/>
          </a:p>
        </p:txBody>
      </p:sp>
      <p:pic>
        <p:nvPicPr>
          <p:cNvPr descr="image.png" id="278" name="Google Shape;278;p1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605587" y="3481387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19"/>
          <p:cNvSpPr txBox="1"/>
          <p:nvPr/>
        </p:nvSpPr>
        <p:spPr>
          <a:xfrm>
            <a:off x="7134225" y="3343275"/>
            <a:ext cx="388048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Denoising Autoencoder</a:t>
            </a:r>
            <a:endParaRPr/>
          </a:p>
        </p:txBody>
      </p:sp>
      <p:sp>
        <p:nvSpPr>
          <p:cNvPr id="280" name="Google Shape;280;p19"/>
          <p:cNvSpPr txBox="1"/>
          <p:nvPr/>
        </p:nvSpPr>
        <p:spPr>
          <a:xfrm>
            <a:off x="7134225" y="3581400"/>
            <a:ext cx="3695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Learns to reconstruct clean data from corrupted input.</a:t>
            </a:r>
            <a:endParaRPr/>
          </a:p>
        </p:txBody>
      </p:sp>
      <p:pic>
        <p:nvPicPr>
          <p:cNvPr descr="image.png" id="281" name="Google Shape;281;p1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596062" y="4652962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9"/>
          <p:cNvSpPr txBox="1"/>
          <p:nvPr/>
        </p:nvSpPr>
        <p:spPr>
          <a:xfrm>
            <a:off x="7134225" y="4400550"/>
            <a:ext cx="450056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Contractive Autoencoder</a:t>
            </a:r>
            <a:endParaRPr/>
          </a:p>
        </p:txBody>
      </p:sp>
      <p:sp>
        <p:nvSpPr>
          <p:cNvPr id="283" name="Google Shape;283;p19"/>
          <p:cNvSpPr txBox="1"/>
          <p:nvPr/>
        </p:nvSpPr>
        <p:spPr>
          <a:xfrm>
            <a:off x="7134225" y="4638675"/>
            <a:ext cx="4286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Encourages representations that are less sensitive to small input changes.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8" name="Google Shape;28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619250"/>
            <a:ext cx="5334000" cy="4777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3920430"/>
            <a:ext cx="5334000" cy="2476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" y="2381250"/>
            <a:ext cx="4857750" cy="11607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" y="3970585"/>
            <a:ext cx="4857750" cy="11416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9625" y="5540871"/>
            <a:ext cx="4857750" cy="11416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86500" y="2493615"/>
            <a:ext cx="260985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010650" y="2493615"/>
            <a:ext cx="260985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5" name="Google Shape;295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286500" y="3027015"/>
            <a:ext cx="260985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010650" y="3027015"/>
            <a:ext cx="260985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0"/>
          <p:cNvSpPr txBox="1"/>
          <p:nvPr/>
        </p:nvSpPr>
        <p:spPr>
          <a:xfrm>
            <a:off x="571500" y="6410325"/>
            <a:ext cx="11049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MLA0408 • CO5 — Autoencoder Variants 8 / 10</a:t>
            </a:r>
            <a:endParaRPr/>
          </a:p>
        </p:txBody>
      </p:sp>
      <p:sp>
        <p:nvSpPr>
          <p:cNvPr id="298" name="Google Shape;298;p20"/>
          <p:cNvSpPr txBox="1"/>
          <p:nvPr/>
        </p:nvSpPr>
        <p:spPr>
          <a:xfrm>
            <a:off x="571500" y="476250"/>
            <a:ext cx="11049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1CAA0"/>
                </a:solidFill>
                <a:latin typeface="Inter"/>
                <a:ea typeface="Inter"/>
                <a:cs typeface="Inter"/>
                <a:sym typeface="Inter"/>
              </a:rPr>
              <a:t>PRACTICAL USES</a:t>
            </a:r>
            <a:endParaRPr/>
          </a:p>
        </p:txBody>
      </p:sp>
      <p:sp>
        <p:nvSpPr>
          <p:cNvPr id="299" name="Google Shape;299;p20"/>
          <p:cNvSpPr txBox="1"/>
          <p:nvPr/>
        </p:nvSpPr>
        <p:spPr>
          <a:xfrm>
            <a:off x="571500" y="752475"/>
            <a:ext cx="1160145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Lora"/>
                <a:ea typeface="Lora"/>
                <a:cs typeface="Lora"/>
                <a:sym typeface="Lora"/>
              </a:rPr>
              <a:t>Dimensionality &amp; Feature Learning</a:t>
            </a:r>
            <a:endParaRPr/>
          </a:p>
        </p:txBody>
      </p:sp>
      <p:sp>
        <p:nvSpPr>
          <p:cNvPr id="300" name="Google Shape;300;p20"/>
          <p:cNvSpPr txBox="1"/>
          <p:nvPr/>
        </p:nvSpPr>
        <p:spPr>
          <a:xfrm>
            <a:off x="809625" y="1857375"/>
            <a:ext cx="5100637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Lora"/>
                <a:ea typeface="Lora"/>
                <a:cs typeface="Lora"/>
                <a:sym typeface="Lora"/>
              </a:rPr>
              <a:t>Dimensionality Reduction</a:t>
            </a:r>
            <a:endParaRPr/>
          </a:p>
        </p:txBody>
      </p:sp>
      <p:sp>
        <p:nvSpPr>
          <p:cNvPr id="301" name="Google Shape;301;p20"/>
          <p:cNvSpPr txBox="1"/>
          <p:nvPr/>
        </p:nvSpPr>
        <p:spPr>
          <a:xfrm>
            <a:off x="809625" y="6911280"/>
            <a:ext cx="48577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The 10-dimensional representation can be used instead of the original 100 features.</a:t>
            </a:r>
            <a:endParaRPr/>
          </a:p>
        </p:txBody>
      </p:sp>
      <p:sp>
        <p:nvSpPr>
          <p:cNvPr id="302" name="Google Shape;302;p20"/>
          <p:cNvSpPr txBox="1"/>
          <p:nvPr/>
        </p:nvSpPr>
        <p:spPr>
          <a:xfrm>
            <a:off x="6286500" y="1619250"/>
            <a:ext cx="56007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Lora"/>
                <a:ea typeface="Lora"/>
                <a:cs typeface="Lora"/>
                <a:sym typeface="Lora"/>
              </a:rPr>
              <a:t>Feature Learning</a:t>
            </a:r>
            <a:endParaRPr/>
          </a:p>
        </p:txBody>
      </p:sp>
      <p:sp>
        <p:nvSpPr>
          <p:cNvPr id="303" name="Google Shape;303;p20"/>
          <p:cNvSpPr txBox="1"/>
          <p:nvPr/>
        </p:nvSpPr>
        <p:spPr>
          <a:xfrm>
            <a:off x="6286500" y="2066925"/>
            <a:ext cx="5334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The model automatically learns important patterns such as:</a:t>
            </a:r>
            <a:endParaRPr/>
          </a:p>
        </p:txBody>
      </p:sp>
      <p:sp>
        <p:nvSpPr>
          <p:cNvPr id="304" name="Google Shape;304;p20"/>
          <p:cNvSpPr txBox="1"/>
          <p:nvPr/>
        </p:nvSpPr>
        <p:spPr>
          <a:xfrm>
            <a:off x="6553200" y="4149030"/>
            <a:ext cx="508063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Applications</a:t>
            </a:r>
            <a:endParaRPr/>
          </a:p>
        </p:txBody>
      </p:sp>
      <p:pic>
        <p:nvPicPr>
          <p:cNvPr descr="image.png" id="305" name="Google Shape;305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152775" y="3637210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152775" y="5207496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7" name="Google Shape;307;p2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553200" y="416808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0"/>
          <p:cNvSpPr txBox="1"/>
          <p:nvPr/>
        </p:nvSpPr>
        <p:spPr>
          <a:xfrm>
            <a:off x="6781800" y="4530030"/>
            <a:ext cx="46101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Image compression</a:t>
            </a:r>
            <a:endParaRPr/>
          </a:p>
        </p:txBody>
      </p:sp>
      <p:sp>
        <p:nvSpPr>
          <p:cNvPr id="309" name="Google Shape;309;p20"/>
          <p:cNvSpPr txBox="1"/>
          <p:nvPr/>
        </p:nvSpPr>
        <p:spPr>
          <a:xfrm>
            <a:off x="6781800" y="4939605"/>
            <a:ext cx="46101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Data visualization</a:t>
            </a:r>
            <a:endParaRPr/>
          </a:p>
        </p:txBody>
      </p:sp>
      <p:sp>
        <p:nvSpPr>
          <p:cNvPr id="310" name="Google Shape;310;p20"/>
          <p:cNvSpPr txBox="1"/>
          <p:nvPr/>
        </p:nvSpPr>
        <p:spPr>
          <a:xfrm>
            <a:off x="6781800" y="5349180"/>
            <a:ext cx="46101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Feature extraction</a:t>
            </a:r>
            <a:endParaRPr/>
          </a:p>
        </p:txBody>
      </p:sp>
      <p:sp>
        <p:nvSpPr>
          <p:cNvPr id="311" name="Google Shape;311;p20"/>
          <p:cNvSpPr txBox="1"/>
          <p:nvPr/>
        </p:nvSpPr>
        <p:spPr>
          <a:xfrm>
            <a:off x="6781800" y="5758755"/>
            <a:ext cx="46101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Anomaly detection</a:t>
            </a:r>
            <a:endParaRPr/>
          </a:p>
        </p:txBody>
      </p:sp>
      <p:sp>
        <p:nvSpPr>
          <p:cNvPr id="312" name="Google Shape;312;p20"/>
          <p:cNvSpPr txBox="1"/>
          <p:nvPr/>
        </p:nvSpPr>
        <p:spPr>
          <a:xfrm>
            <a:off x="6553200" y="4491930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1CAA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13" name="Google Shape;313;p20"/>
          <p:cNvSpPr txBox="1"/>
          <p:nvPr/>
        </p:nvSpPr>
        <p:spPr>
          <a:xfrm>
            <a:off x="6553200" y="4901505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1CAA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14" name="Google Shape;314;p20"/>
          <p:cNvSpPr txBox="1"/>
          <p:nvPr/>
        </p:nvSpPr>
        <p:spPr>
          <a:xfrm>
            <a:off x="6553200" y="5311080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1CAA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15" name="Google Shape;315;p20"/>
          <p:cNvSpPr txBox="1"/>
          <p:nvPr/>
        </p:nvSpPr>
        <p:spPr>
          <a:xfrm>
            <a:off x="6553200" y="5720655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1CAA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1"/>
          <p:cNvSpPr txBox="1"/>
          <p:nvPr/>
        </p:nvSpPr>
        <p:spPr>
          <a:xfrm>
            <a:off x="571500" y="6410325"/>
            <a:ext cx="11049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MLA0408 • CO5 — Autoencoder Variants 9 / 10</a:t>
            </a:r>
            <a:endParaRPr/>
          </a:p>
        </p:txBody>
      </p:sp>
      <p:sp>
        <p:nvSpPr>
          <p:cNvPr id="321" name="Google Shape;321;p21"/>
          <p:cNvSpPr txBox="1"/>
          <p:nvPr/>
        </p:nvSpPr>
        <p:spPr>
          <a:xfrm>
            <a:off x="571500" y="476250"/>
            <a:ext cx="11049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1CAA0"/>
                </a:solidFill>
                <a:latin typeface="Inter"/>
                <a:ea typeface="Inter"/>
                <a:cs typeface="Inter"/>
                <a:sym typeface="Inter"/>
              </a:rPr>
              <a:t>COMPARISON</a:t>
            </a:r>
            <a:endParaRPr/>
          </a:p>
        </p:txBody>
      </p:sp>
      <p:sp>
        <p:nvSpPr>
          <p:cNvPr id="322" name="Google Shape;322;p21"/>
          <p:cNvSpPr txBox="1"/>
          <p:nvPr/>
        </p:nvSpPr>
        <p:spPr>
          <a:xfrm>
            <a:off x="571500" y="752475"/>
            <a:ext cx="1160145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Lora"/>
                <a:ea typeface="Lora"/>
                <a:cs typeface="Lora"/>
                <a:sym typeface="Lora"/>
              </a:rPr>
              <a:t>Undercomplete vs Regularized</a:t>
            </a:r>
            <a:endParaRPr/>
          </a:p>
        </p:txBody>
      </p:sp>
      <p:graphicFrame>
        <p:nvGraphicFramePr>
          <p:cNvPr id="323" name="Google Shape;323;p21"/>
          <p:cNvGraphicFramePr/>
          <p:nvPr/>
        </p:nvGraphicFramePr>
        <p:xfrm>
          <a:off x="571500" y="18097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{96984029-CF1A-44F0-92FA-8F0BCE250DBE}</a:tableStyleId>
              </a:tblPr>
              <a:tblGrid>
                <a:gridCol w="2967175"/>
                <a:gridCol w="3865075"/>
                <a:gridCol w="4216750"/>
              </a:tblGrid>
              <a:tr h="545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Feature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Undercomplete Autoencoder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Regularized Autoencoder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45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Main idea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Smaller latent space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Adds constraints/penalties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5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Latent representation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Smaller than input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Can vary (sometimes larger)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5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Main purpose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Compression &amp; feature learning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Robust &amp; meaningful features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5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Prevents trivial copying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Through physical bottleneck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Through mathematical regularization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5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Example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100 → 10 features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Denoising / Sparse / Contractive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5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Applications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Dimensionality reduction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Noise removal, robust learning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4" name="Google Shape;324;p21"/>
          <p:cNvSpPr/>
          <p:nvPr/>
        </p:nvSpPr>
        <p:spPr>
          <a:xfrm>
            <a:off x="571500" y="2366962"/>
            <a:ext cx="29671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1"/>
          <p:cNvSpPr/>
          <p:nvPr/>
        </p:nvSpPr>
        <p:spPr>
          <a:xfrm>
            <a:off x="3538686" y="2366962"/>
            <a:ext cx="38650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1"/>
          <p:cNvSpPr/>
          <p:nvPr/>
        </p:nvSpPr>
        <p:spPr>
          <a:xfrm>
            <a:off x="7403752" y="2366962"/>
            <a:ext cx="42167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1"/>
          <p:cNvSpPr/>
          <p:nvPr/>
        </p:nvSpPr>
        <p:spPr>
          <a:xfrm>
            <a:off x="571500" y="2909887"/>
            <a:ext cx="29671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1"/>
          <p:cNvSpPr/>
          <p:nvPr/>
        </p:nvSpPr>
        <p:spPr>
          <a:xfrm>
            <a:off x="3538686" y="2909887"/>
            <a:ext cx="38650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1"/>
          <p:cNvSpPr/>
          <p:nvPr/>
        </p:nvSpPr>
        <p:spPr>
          <a:xfrm>
            <a:off x="7403752" y="2909887"/>
            <a:ext cx="42167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1"/>
          <p:cNvSpPr/>
          <p:nvPr/>
        </p:nvSpPr>
        <p:spPr>
          <a:xfrm>
            <a:off x="571500" y="3452812"/>
            <a:ext cx="29671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1"/>
          <p:cNvSpPr/>
          <p:nvPr/>
        </p:nvSpPr>
        <p:spPr>
          <a:xfrm>
            <a:off x="3538686" y="3452812"/>
            <a:ext cx="38650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1"/>
          <p:cNvSpPr/>
          <p:nvPr/>
        </p:nvSpPr>
        <p:spPr>
          <a:xfrm>
            <a:off x="7403752" y="3452812"/>
            <a:ext cx="42167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1"/>
          <p:cNvSpPr/>
          <p:nvPr/>
        </p:nvSpPr>
        <p:spPr>
          <a:xfrm>
            <a:off x="571500" y="3995737"/>
            <a:ext cx="29671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1"/>
          <p:cNvSpPr/>
          <p:nvPr/>
        </p:nvSpPr>
        <p:spPr>
          <a:xfrm>
            <a:off x="3538686" y="3995737"/>
            <a:ext cx="38650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1"/>
          <p:cNvSpPr/>
          <p:nvPr/>
        </p:nvSpPr>
        <p:spPr>
          <a:xfrm>
            <a:off x="7403752" y="3995737"/>
            <a:ext cx="42167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1"/>
          <p:cNvSpPr/>
          <p:nvPr/>
        </p:nvSpPr>
        <p:spPr>
          <a:xfrm>
            <a:off x="571500" y="4538662"/>
            <a:ext cx="29671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1"/>
          <p:cNvSpPr/>
          <p:nvPr/>
        </p:nvSpPr>
        <p:spPr>
          <a:xfrm>
            <a:off x="3538686" y="4538662"/>
            <a:ext cx="38650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1"/>
          <p:cNvSpPr/>
          <p:nvPr/>
        </p:nvSpPr>
        <p:spPr>
          <a:xfrm>
            <a:off x="7403752" y="4538662"/>
            <a:ext cx="42167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1"/>
          <p:cNvSpPr/>
          <p:nvPr/>
        </p:nvSpPr>
        <p:spPr>
          <a:xfrm>
            <a:off x="571500" y="5081587"/>
            <a:ext cx="29671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1"/>
          <p:cNvSpPr/>
          <p:nvPr/>
        </p:nvSpPr>
        <p:spPr>
          <a:xfrm>
            <a:off x="3538686" y="5081587"/>
            <a:ext cx="38650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1"/>
          <p:cNvSpPr/>
          <p:nvPr/>
        </p:nvSpPr>
        <p:spPr>
          <a:xfrm>
            <a:off x="7403752" y="5081587"/>
            <a:ext cx="42167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2"/>
          <p:cNvSpPr txBox="1"/>
          <p:nvPr/>
        </p:nvSpPr>
        <p:spPr>
          <a:xfrm>
            <a:off x="571500" y="6410325"/>
            <a:ext cx="11049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MLA0408 • CO5 — Autoencoder Variants 10 / 10</a:t>
            </a:r>
            <a:endParaRPr/>
          </a:p>
        </p:txBody>
      </p:sp>
      <p:sp>
        <p:nvSpPr>
          <p:cNvPr id="347" name="Google Shape;347;p22"/>
          <p:cNvSpPr txBox="1"/>
          <p:nvPr/>
        </p:nvSpPr>
        <p:spPr>
          <a:xfrm>
            <a:off x="571500" y="476250"/>
            <a:ext cx="11049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1CAA0"/>
                </a:solidFill>
                <a:latin typeface="Inter"/>
                <a:ea typeface="Inter"/>
                <a:cs typeface="Inter"/>
                <a:sym typeface="Inter"/>
              </a:rPr>
              <a:t>SUMMARY</a:t>
            </a:r>
            <a:endParaRPr/>
          </a:p>
        </p:txBody>
      </p:sp>
      <p:sp>
        <p:nvSpPr>
          <p:cNvPr id="348" name="Google Shape;348;p22"/>
          <p:cNvSpPr txBox="1"/>
          <p:nvPr/>
        </p:nvSpPr>
        <p:spPr>
          <a:xfrm>
            <a:off x="571500" y="752475"/>
            <a:ext cx="1160145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Lora"/>
                <a:ea typeface="Lora"/>
                <a:cs typeface="Lora"/>
                <a:sym typeface="Lora"/>
              </a:rPr>
              <a:t>Conclusion</a:t>
            </a:r>
            <a:endParaRPr/>
          </a:p>
        </p:txBody>
      </p:sp>
      <p:sp>
        <p:nvSpPr>
          <p:cNvPr id="349" name="Google Shape;349;p22"/>
          <p:cNvSpPr txBox="1"/>
          <p:nvPr/>
        </p:nvSpPr>
        <p:spPr>
          <a:xfrm>
            <a:off x="800100" y="1809750"/>
            <a:ext cx="10820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Efficient Representations:</a:t>
            </a: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Autoencoders learn efficient representations of input data through unsupervised learning.</a:t>
            </a:r>
            <a:endParaRPr/>
          </a:p>
        </p:txBody>
      </p:sp>
      <p:sp>
        <p:nvSpPr>
          <p:cNvPr id="350" name="Google Shape;350;p22"/>
          <p:cNvSpPr txBox="1"/>
          <p:nvPr/>
        </p:nvSpPr>
        <p:spPr>
          <a:xfrm>
            <a:off x="800100" y="2314575"/>
            <a:ext cx="108204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Dimensionality Reduction:</a:t>
            </a: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Undercomplete Autoencoders use a strictly smaller latent space to force compression and dimensionality reduction.</a:t>
            </a:r>
            <a:endParaRPr/>
          </a:p>
        </p:txBody>
      </p:sp>
      <p:sp>
        <p:nvSpPr>
          <p:cNvPr id="351" name="Google Shape;351;p22"/>
          <p:cNvSpPr txBox="1"/>
          <p:nvPr/>
        </p:nvSpPr>
        <p:spPr>
          <a:xfrm>
            <a:off x="800100" y="3076575"/>
            <a:ext cx="108204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Robust Features:</a:t>
            </a: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Regularized Autoencoders introduce constraints (like sparsity or noise injection) to encourage meaningful and robust feature learning without requiring a strict bottleneck.</a:t>
            </a:r>
            <a:endParaRPr/>
          </a:p>
        </p:txBody>
      </p:sp>
      <p:sp>
        <p:nvSpPr>
          <p:cNvPr id="352" name="Google Shape;352;p22"/>
          <p:cNvSpPr txBox="1"/>
          <p:nvPr/>
        </p:nvSpPr>
        <p:spPr>
          <a:xfrm>
            <a:off x="800100" y="3838575"/>
            <a:ext cx="10820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Training Objective:</a:t>
            </a: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Reconstruction loss measures how accurately the input is reproduced, guiding the network's learning process.</a:t>
            </a:r>
            <a:endParaRPr/>
          </a:p>
        </p:txBody>
      </p:sp>
      <p:sp>
        <p:nvSpPr>
          <p:cNvPr id="353" name="Google Shape;353;p22"/>
          <p:cNvSpPr txBox="1"/>
          <p:nvPr/>
        </p:nvSpPr>
        <p:spPr>
          <a:xfrm>
            <a:off x="800100" y="4343400"/>
            <a:ext cx="10820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Versatility:</a:t>
            </a: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Both approaches are highly useful for feature extraction, dimensionality reduction, compression, and anomaly detection.</a:t>
            </a:r>
            <a:endParaRPr/>
          </a:p>
        </p:txBody>
      </p:sp>
      <p:sp>
        <p:nvSpPr>
          <p:cNvPr id="354" name="Google Shape;354;p22"/>
          <p:cNvSpPr txBox="1"/>
          <p:nvPr/>
        </p:nvSpPr>
        <p:spPr>
          <a:xfrm>
            <a:off x="571500" y="1771650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1CAA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55" name="Google Shape;355;p22"/>
          <p:cNvSpPr txBox="1"/>
          <p:nvPr/>
        </p:nvSpPr>
        <p:spPr>
          <a:xfrm>
            <a:off x="571500" y="2276475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1CAA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56" name="Google Shape;356;p22"/>
          <p:cNvSpPr txBox="1"/>
          <p:nvPr/>
        </p:nvSpPr>
        <p:spPr>
          <a:xfrm>
            <a:off x="571500" y="3038475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1CAA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57" name="Google Shape;357;p22"/>
          <p:cNvSpPr txBox="1"/>
          <p:nvPr/>
        </p:nvSpPr>
        <p:spPr>
          <a:xfrm>
            <a:off x="571500" y="3800475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1CAA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58" name="Google Shape;358;p22"/>
          <p:cNvSpPr txBox="1"/>
          <p:nvPr/>
        </p:nvSpPr>
        <p:spPr>
          <a:xfrm>
            <a:off x="571500" y="4305300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1CAA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